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1430000" cy="8648700"/>
  <p:notesSz cx="11430000" cy="86487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3" d="100"/>
          <a:sy n="53" d="100"/>
        </p:scale>
        <p:origin x="-1482" y="-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6059"/>
            <a:ext cx="9715500" cy="13521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FFF7F5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5784"/>
            <a:ext cx="8001000" cy="1609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rgbClr val="D3C8C4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FFF7F5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D3C8C4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FFF7F5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1480947"/>
            <a:ext cx="4972050" cy="42496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480947"/>
            <a:ext cx="4972050" cy="42496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7038975"/>
          </a:xfrm>
          <a:custGeom>
            <a:avLst/>
            <a:gdLst/>
            <a:ahLst/>
            <a:cxnLst/>
            <a:rect l="l" t="t" r="r" b="b"/>
            <a:pathLst>
              <a:path w="11430000" h="7038975">
                <a:moveTo>
                  <a:pt x="11429999" y="7038974"/>
                </a:moveTo>
                <a:lnTo>
                  <a:pt x="0" y="7038974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7038974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FFF7F5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047" y="477084"/>
            <a:ext cx="8641715" cy="539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FFF7F5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73393" y="2598131"/>
            <a:ext cx="5992495" cy="19164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rgbClr val="D3C8C4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88177"/>
            <a:ext cx="3657600" cy="3219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88177"/>
            <a:ext cx="2628900" cy="3219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988177"/>
            <a:ext cx="2628900" cy="3219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29458" y="6438595"/>
                </a:moveTo>
                <a:lnTo>
                  <a:pt x="0" y="6438595"/>
                </a:lnTo>
                <a:lnTo>
                  <a:pt x="0" y="0"/>
                </a:lnTo>
                <a:lnTo>
                  <a:pt x="11429458" y="0"/>
                </a:lnTo>
                <a:lnTo>
                  <a:pt x="11429458" y="6438595"/>
                </a:lnTo>
                <a:close/>
              </a:path>
            </a:pathLst>
          </a:custGeom>
          <a:solidFill>
            <a:srgbClr val="40323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284218" cy="6438595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73393" y="1339395"/>
            <a:ext cx="5523865" cy="106362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20"/>
              </a:spcBef>
            </a:pPr>
            <a:r>
              <a:rPr spc="170" dirty="0"/>
              <a:t>Threat</a:t>
            </a:r>
            <a:r>
              <a:rPr spc="155" dirty="0"/>
              <a:t> </a:t>
            </a:r>
            <a:r>
              <a:rPr spc="165" dirty="0"/>
              <a:t>Intelligence</a:t>
            </a:r>
            <a:r>
              <a:rPr spc="155" dirty="0"/>
              <a:t> </a:t>
            </a:r>
            <a:r>
              <a:rPr spc="90" dirty="0"/>
              <a:t>Kill-</a:t>
            </a:r>
            <a:r>
              <a:rPr spc="225" dirty="0"/>
              <a:t>Chain</a:t>
            </a:r>
            <a:r>
              <a:rPr spc="155" dirty="0"/>
              <a:t> </a:t>
            </a:r>
            <a:r>
              <a:rPr spc="175" dirty="0"/>
              <a:t>Correlation</a:t>
            </a:r>
            <a:r>
              <a:rPr spc="155" dirty="0"/>
              <a:t> </a:t>
            </a:r>
            <a:r>
              <a:rPr spc="165" dirty="0"/>
              <a:t>Engine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873393" y="2470578"/>
            <a:ext cx="5715000" cy="2637004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 marR="5080">
              <a:lnSpc>
                <a:spcPct val="104600"/>
              </a:lnSpc>
              <a:spcBef>
                <a:spcPts val="45"/>
              </a:spcBef>
            </a:pPr>
            <a:r>
              <a:rPr sz="1650" b="1" spc="190" dirty="0">
                <a:solidFill>
                  <a:srgbClr val="FFF7F5"/>
                </a:solidFill>
                <a:latin typeface="Cambria"/>
                <a:cs typeface="Cambria"/>
              </a:rPr>
              <a:t>A</a:t>
            </a:r>
            <a:r>
              <a:rPr sz="1650" b="1" spc="85" dirty="0">
                <a:solidFill>
                  <a:srgbClr val="FFF7F5"/>
                </a:solidFill>
                <a:latin typeface="Cambria"/>
                <a:cs typeface="Cambria"/>
              </a:rPr>
              <a:t> </a:t>
            </a:r>
            <a:r>
              <a:rPr sz="1650" b="1" spc="110" dirty="0">
                <a:solidFill>
                  <a:srgbClr val="FFF7F5"/>
                </a:solidFill>
                <a:latin typeface="Cambria"/>
                <a:cs typeface="Cambria"/>
              </a:rPr>
              <a:t>Java</a:t>
            </a:r>
            <a:r>
              <a:rPr sz="1650" b="1" spc="85" dirty="0">
                <a:solidFill>
                  <a:srgbClr val="FFF7F5"/>
                </a:solidFill>
                <a:latin typeface="Cambria"/>
                <a:cs typeface="Cambria"/>
              </a:rPr>
              <a:t> </a:t>
            </a:r>
            <a:r>
              <a:rPr sz="1650" b="1" spc="114" dirty="0">
                <a:solidFill>
                  <a:srgbClr val="FFF7F5"/>
                </a:solidFill>
                <a:latin typeface="Cambria"/>
                <a:cs typeface="Cambria"/>
              </a:rPr>
              <a:t>and</a:t>
            </a:r>
            <a:r>
              <a:rPr sz="1650" b="1" spc="85" dirty="0">
                <a:solidFill>
                  <a:srgbClr val="FFF7F5"/>
                </a:solidFill>
                <a:latin typeface="Cambria"/>
                <a:cs typeface="Cambria"/>
              </a:rPr>
              <a:t> </a:t>
            </a:r>
            <a:r>
              <a:rPr sz="1650" b="1" spc="150" dirty="0">
                <a:solidFill>
                  <a:srgbClr val="FFF7F5"/>
                </a:solidFill>
                <a:latin typeface="Cambria"/>
                <a:cs typeface="Cambria"/>
              </a:rPr>
              <a:t>DSA</a:t>
            </a:r>
            <a:r>
              <a:rPr sz="1650" b="1" spc="90" dirty="0">
                <a:solidFill>
                  <a:srgbClr val="FFF7F5"/>
                </a:solidFill>
                <a:latin typeface="Cambria"/>
                <a:cs typeface="Cambria"/>
              </a:rPr>
              <a:t> </a:t>
            </a:r>
            <a:r>
              <a:rPr sz="1650" b="1" spc="80" dirty="0">
                <a:solidFill>
                  <a:srgbClr val="FFF7F5"/>
                </a:solidFill>
                <a:latin typeface="Cambria"/>
                <a:cs typeface="Cambria"/>
              </a:rPr>
              <a:t>Based</a:t>
            </a:r>
            <a:r>
              <a:rPr sz="1650" b="1" spc="85" dirty="0">
                <a:solidFill>
                  <a:srgbClr val="FFF7F5"/>
                </a:solidFill>
                <a:latin typeface="Cambria"/>
                <a:cs typeface="Cambria"/>
              </a:rPr>
              <a:t> </a:t>
            </a:r>
            <a:r>
              <a:rPr sz="1650" b="1" spc="105" dirty="0">
                <a:solidFill>
                  <a:srgbClr val="FFF7F5"/>
                </a:solidFill>
                <a:latin typeface="Cambria"/>
                <a:cs typeface="Cambria"/>
              </a:rPr>
              <a:t>Cybersecurity</a:t>
            </a:r>
            <a:r>
              <a:rPr sz="1650" b="1" spc="85" dirty="0">
                <a:solidFill>
                  <a:srgbClr val="FFF7F5"/>
                </a:solidFill>
                <a:latin typeface="Cambria"/>
                <a:cs typeface="Cambria"/>
              </a:rPr>
              <a:t> </a:t>
            </a:r>
            <a:r>
              <a:rPr sz="1650" b="1" spc="90" dirty="0">
                <a:solidFill>
                  <a:srgbClr val="FFF7F5"/>
                </a:solidFill>
                <a:latin typeface="Cambria"/>
                <a:cs typeface="Cambria"/>
              </a:rPr>
              <a:t>Threat </a:t>
            </a:r>
            <a:r>
              <a:rPr sz="1650" b="1" spc="85" dirty="0">
                <a:solidFill>
                  <a:srgbClr val="FFF7F5"/>
                </a:solidFill>
                <a:latin typeface="Cambria"/>
                <a:cs typeface="Cambria"/>
              </a:rPr>
              <a:t>Analysis </a:t>
            </a:r>
            <a:r>
              <a:rPr sz="1650" b="1" spc="95" dirty="0">
                <a:solidFill>
                  <a:srgbClr val="FFF7F5"/>
                </a:solidFill>
                <a:latin typeface="Cambria"/>
                <a:cs typeface="Cambria"/>
              </a:rPr>
              <a:t>System</a:t>
            </a:r>
            <a:endParaRPr sz="165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1350" b="1" spc="75" dirty="0">
                <a:solidFill>
                  <a:srgbClr val="D3C8C4"/>
                </a:solidFill>
                <a:latin typeface="Cambria"/>
                <a:cs typeface="Cambria"/>
              </a:rPr>
              <a:t>Student</a:t>
            </a:r>
            <a:r>
              <a:rPr sz="1350" b="1" spc="50" dirty="0">
                <a:solidFill>
                  <a:srgbClr val="D3C8C4"/>
                </a:solidFill>
                <a:latin typeface="Cambria"/>
                <a:cs typeface="Cambria"/>
              </a:rPr>
              <a:t> </a:t>
            </a:r>
            <a:r>
              <a:rPr sz="1350" b="1" spc="-50" dirty="0">
                <a:solidFill>
                  <a:srgbClr val="D3C8C4"/>
                </a:solidFill>
                <a:latin typeface="Cambria"/>
                <a:cs typeface="Cambria"/>
              </a:rPr>
              <a:t>1</a:t>
            </a:r>
            <a:endParaRPr sz="135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  <a:tabLst>
                <a:tab pos="1571625" algn="l"/>
              </a:tabLst>
            </a:pPr>
            <a:r>
              <a:rPr sz="1350" spc="105" dirty="0">
                <a:solidFill>
                  <a:srgbClr val="D3C8C4"/>
                </a:solidFill>
                <a:latin typeface="Times New Roman"/>
                <a:cs typeface="Times New Roman"/>
              </a:rPr>
              <a:t>Name: </a:t>
            </a:r>
            <a:r>
              <a:rPr lang="en-US" sz="1350" u="sng" dirty="0" smtClean="0">
                <a:solidFill>
                  <a:srgbClr val="D3C8C4"/>
                </a:solidFill>
                <a:uFill>
                  <a:solidFill>
                    <a:srgbClr val="D2C7C3"/>
                  </a:solidFill>
                </a:uFill>
                <a:latin typeface="Times New Roman"/>
                <a:cs typeface="Times New Roman"/>
              </a:rPr>
              <a:t>Samyuktha Kandukuri</a:t>
            </a:r>
            <a:endParaRPr sz="13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  <a:tabLst>
                <a:tab pos="2132330" algn="l"/>
              </a:tabLst>
            </a:pPr>
            <a:r>
              <a:rPr sz="1350" dirty="0">
                <a:solidFill>
                  <a:srgbClr val="D3C8C4"/>
                </a:solidFill>
                <a:latin typeface="Times New Roman"/>
                <a:cs typeface="Times New Roman"/>
              </a:rPr>
              <a:t>Roll</a:t>
            </a:r>
            <a:r>
              <a:rPr sz="1350" spc="130" dirty="0">
                <a:solidFill>
                  <a:srgbClr val="D3C8C4"/>
                </a:solidFill>
                <a:latin typeface="Times New Roman"/>
                <a:cs typeface="Times New Roman"/>
              </a:rPr>
              <a:t> Number: </a:t>
            </a:r>
            <a:r>
              <a:rPr lang="en-US" sz="1350" spc="130" dirty="0" smtClean="0">
                <a:solidFill>
                  <a:srgbClr val="D3C8C4"/>
                </a:solidFill>
                <a:latin typeface="Times New Roman"/>
                <a:cs typeface="Times New Roman"/>
              </a:rPr>
              <a:t>2520090157</a:t>
            </a:r>
            <a:endParaRPr sz="13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40"/>
              </a:spcBef>
            </a:pPr>
            <a:endParaRPr sz="13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350" b="1" spc="75" dirty="0">
                <a:solidFill>
                  <a:srgbClr val="D3C8C4"/>
                </a:solidFill>
                <a:latin typeface="Cambria"/>
                <a:cs typeface="Cambria"/>
              </a:rPr>
              <a:t>Student</a:t>
            </a:r>
            <a:r>
              <a:rPr sz="1350" b="1" spc="50" dirty="0">
                <a:solidFill>
                  <a:srgbClr val="D3C8C4"/>
                </a:solidFill>
                <a:latin typeface="Cambria"/>
                <a:cs typeface="Cambria"/>
              </a:rPr>
              <a:t> </a:t>
            </a:r>
            <a:r>
              <a:rPr sz="1350" b="1" spc="-50" dirty="0">
                <a:solidFill>
                  <a:srgbClr val="D3C8C4"/>
                </a:solidFill>
                <a:latin typeface="Cambria"/>
                <a:cs typeface="Cambria"/>
              </a:rPr>
              <a:t>2</a:t>
            </a:r>
            <a:endParaRPr sz="135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  <a:tabLst>
                <a:tab pos="1571625" algn="l"/>
              </a:tabLst>
            </a:pPr>
            <a:r>
              <a:rPr sz="1350" spc="105" dirty="0" err="1" smtClean="0">
                <a:solidFill>
                  <a:srgbClr val="D3C8C4"/>
                </a:solidFill>
                <a:latin typeface="Times New Roman"/>
                <a:cs typeface="Times New Roman"/>
              </a:rPr>
              <a:t>Name:</a:t>
            </a:r>
            <a:r>
              <a:rPr lang="en-US" sz="1350" spc="105" dirty="0" err="1" smtClean="0">
                <a:solidFill>
                  <a:srgbClr val="D3C8C4"/>
                </a:solidFill>
                <a:latin typeface="Times New Roman"/>
                <a:cs typeface="Times New Roman"/>
              </a:rPr>
              <a:t>K.Usha</a:t>
            </a:r>
            <a:r>
              <a:rPr lang="en-US" sz="1350" spc="105" dirty="0" smtClean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lang="en-US" sz="1350" spc="105" dirty="0" err="1" smtClean="0">
                <a:solidFill>
                  <a:srgbClr val="D3C8C4"/>
                </a:solidFill>
                <a:latin typeface="Times New Roman"/>
                <a:cs typeface="Times New Roman"/>
              </a:rPr>
              <a:t>Rani</a:t>
            </a:r>
            <a:endParaRPr sz="13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  <a:tabLst>
                <a:tab pos="2132330" algn="l"/>
              </a:tabLst>
            </a:pPr>
            <a:r>
              <a:rPr sz="1350" dirty="0">
                <a:solidFill>
                  <a:srgbClr val="D3C8C4"/>
                </a:solidFill>
                <a:latin typeface="Times New Roman"/>
                <a:cs typeface="Times New Roman"/>
              </a:rPr>
              <a:t>Roll</a:t>
            </a:r>
            <a:r>
              <a:rPr sz="1350" spc="13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30" dirty="0" smtClean="0">
                <a:solidFill>
                  <a:srgbClr val="D3C8C4"/>
                </a:solidFill>
                <a:latin typeface="Times New Roman"/>
                <a:cs typeface="Times New Roman"/>
              </a:rPr>
              <a:t>Number:</a:t>
            </a:r>
            <a:r>
              <a:rPr lang="en-US" sz="1350" spc="130" dirty="0" smtClean="0">
                <a:solidFill>
                  <a:srgbClr val="D3C8C4"/>
                </a:solidFill>
                <a:latin typeface="Times New Roman"/>
                <a:cs typeface="Times New Roman"/>
              </a:rPr>
              <a:t>2520090049</a:t>
            </a:r>
            <a:endParaRPr sz="13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29458" y="6438595"/>
                </a:moveTo>
                <a:lnTo>
                  <a:pt x="0" y="6438595"/>
                </a:lnTo>
                <a:lnTo>
                  <a:pt x="0" y="0"/>
                </a:lnTo>
                <a:lnTo>
                  <a:pt x="11429458" y="0"/>
                </a:lnTo>
                <a:lnTo>
                  <a:pt x="11429458" y="6438595"/>
                </a:lnTo>
                <a:close/>
              </a:path>
            </a:pathLst>
          </a:custGeom>
          <a:solidFill>
            <a:srgbClr val="4032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87346" y="1725044"/>
            <a:ext cx="188912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85" dirty="0"/>
              <a:t>Abstract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87346" y="2454920"/>
            <a:ext cx="5744845" cy="219329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45085" indent="44450">
              <a:lnSpc>
                <a:spcPct val="130800"/>
              </a:lnSpc>
              <a:spcBef>
                <a:spcPts val="175"/>
              </a:spcBef>
            </a:pPr>
            <a:r>
              <a:rPr sz="1350" spc="110" dirty="0">
                <a:solidFill>
                  <a:srgbClr val="D3C8C4"/>
                </a:solidFill>
                <a:latin typeface="Times New Roman"/>
                <a:cs typeface="Times New Roman"/>
              </a:rPr>
              <a:t>Organisationsgeneratelarge</a:t>
            </a:r>
            <a:r>
              <a:rPr sz="1350" spc="3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14" dirty="0">
                <a:solidFill>
                  <a:srgbClr val="D3C8C4"/>
                </a:solidFill>
                <a:latin typeface="Times New Roman"/>
                <a:cs typeface="Times New Roman"/>
              </a:rPr>
              <a:t>volumes</a:t>
            </a:r>
            <a:r>
              <a:rPr sz="1350" spc="3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70" dirty="0">
                <a:solidFill>
                  <a:srgbClr val="D3C8C4"/>
                </a:solidFill>
                <a:latin typeface="Times New Roman"/>
                <a:cs typeface="Times New Roman"/>
              </a:rPr>
              <a:t>of</a:t>
            </a:r>
            <a:r>
              <a:rPr sz="1350" spc="3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05" dirty="0">
                <a:solidFill>
                  <a:srgbClr val="D3C8C4"/>
                </a:solidFill>
                <a:latin typeface="Times New Roman"/>
                <a:cs typeface="Times New Roman"/>
              </a:rPr>
              <a:t>security</a:t>
            </a:r>
            <a:r>
              <a:rPr sz="1350" spc="3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65" dirty="0">
                <a:solidFill>
                  <a:srgbClr val="D3C8C4"/>
                </a:solidFill>
                <a:latin typeface="Times New Roman"/>
                <a:cs typeface="Times New Roman"/>
              </a:rPr>
              <a:t>logs</a:t>
            </a:r>
            <a:r>
              <a:rPr sz="1350" spc="4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35" dirty="0">
                <a:solidFill>
                  <a:srgbClr val="D3C8C4"/>
                </a:solidFill>
                <a:latin typeface="Times New Roman"/>
                <a:cs typeface="Times New Roman"/>
              </a:rPr>
              <a:t>from</a:t>
            </a:r>
            <a:r>
              <a:rPr sz="1350" spc="3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00" dirty="0">
                <a:solidFill>
                  <a:srgbClr val="D3C8C4"/>
                </a:solidFill>
                <a:latin typeface="Times New Roman"/>
                <a:cs typeface="Times New Roman"/>
              </a:rPr>
              <a:t>endpoints, </a:t>
            </a:r>
            <a:r>
              <a:rPr sz="1350" spc="105" dirty="0">
                <a:solidFill>
                  <a:srgbClr val="D3C8C4"/>
                </a:solidFill>
                <a:latin typeface="Times New Roman"/>
                <a:cs typeface="Times New Roman"/>
              </a:rPr>
              <a:t>servers,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95" dirty="0">
                <a:solidFill>
                  <a:srgbClr val="D3C8C4"/>
                </a:solidFill>
                <a:latin typeface="Times New Roman"/>
                <a:cs typeface="Times New Roman"/>
              </a:rPr>
              <a:t>firewalls</a:t>
            </a:r>
            <a:r>
              <a:rPr sz="1350" spc="3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65" dirty="0">
                <a:solidFill>
                  <a:srgbClr val="D3C8C4"/>
                </a:solidFill>
                <a:latin typeface="Times New Roman"/>
                <a:cs typeface="Times New Roman"/>
              </a:rPr>
              <a:t>and</a:t>
            </a:r>
            <a:r>
              <a:rPr sz="1350" spc="3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35" dirty="0">
                <a:solidFill>
                  <a:srgbClr val="D3C8C4"/>
                </a:solidFill>
                <a:latin typeface="Times New Roman"/>
                <a:cs typeface="Times New Roman"/>
              </a:rPr>
              <a:t>network</a:t>
            </a:r>
            <a:r>
              <a:rPr sz="1350" spc="3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85" dirty="0">
                <a:solidFill>
                  <a:srgbClr val="D3C8C4"/>
                </a:solidFill>
                <a:latin typeface="Times New Roman"/>
                <a:cs typeface="Times New Roman"/>
              </a:rPr>
              <a:t>devices.</a:t>
            </a:r>
            <a:r>
              <a:rPr sz="1350" spc="3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30" dirty="0">
                <a:solidFill>
                  <a:srgbClr val="D3C8C4"/>
                </a:solidFill>
                <a:latin typeface="Times New Roman"/>
                <a:cs typeface="Times New Roman"/>
              </a:rPr>
              <a:t>Manual</a:t>
            </a:r>
            <a:r>
              <a:rPr sz="1350" spc="3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25" dirty="0">
                <a:solidFill>
                  <a:srgbClr val="D3C8C4"/>
                </a:solidFill>
                <a:latin typeface="Times New Roman"/>
                <a:cs typeface="Times New Roman"/>
              </a:rPr>
              <a:t>review</a:t>
            </a:r>
            <a:r>
              <a:rPr sz="1350" spc="3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65" dirty="0">
                <a:solidFill>
                  <a:srgbClr val="D3C8C4"/>
                </a:solidFill>
                <a:latin typeface="Times New Roman"/>
                <a:cs typeface="Times New Roman"/>
              </a:rPr>
              <a:t>is</a:t>
            </a:r>
            <a:r>
              <a:rPr sz="1350" spc="3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00" dirty="0">
                <a:solidFill>
                  <a:srgbClr val="D3C8C4"/>
                </a:solidFill>
                <a:latin typeface="Times New Roman"/>
                <a:cs typeface="Times New Roman"/>
              </a:rPr>
              <a:t>slow</a:t>
            </a:r>
            <a:r>
              <a:rPr sz="1350" spc="3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40" dirty="0">
                <a:solidFill>
                  <a:srgbClr val="D3C8C4"/>
                </a:solidFill>
                <a:latin typeface="Times New Roman"/>
                <a:cs typeface="Times New Roman"/>
              </a:rPr>
              <a:t>and </a:t>
            </a:r>
            <a:r>
              <a:rPr sz="1350" spc="114" dirty="0">
                <a:solidFill>
                  <a:srgbClr val="D3C8C4"/>
                </a:solidFill>
                <a:latin typeface="Times New Roman"/>
                <a:cs typeface="Times New Roman"/>
              </a:rPr>
              <a:t>error-</a:t>
            </a:r>
            <a:r>
              <a:rPr sz="1350" spc="130" dirty="0">
                <a:solidFill>
                  <a:srgbClr val="D3C8C4"/>
                </a:solidFill>
                <a:latin typeface="Times New Roman"/>
                <a:cs typeface="Times New Roman"/>
              </a:rPr>
              <a:t>prone.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75" dirty="0">
                <a:solidFill>
                  <a:srgbClr val="D3C8C4"/>
                </a:solidFill>
                <a:latin typeface="Times New Roman"/>
                <a:cs typeface="Times New Roman"/>
              </a:rPr>
              <a:t>This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05" dirty="0">
                <a:solidFill>
                  <a:srgbClr val="D3C8C4"/>
                </a:solidFill>
                <a:latin typeface="Times New Roman"/>
                <a:cs typeface="Times New Roman"/>
              </a:rPr>
              <a:t>project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30" dirty="0">
                <a:solidFill>
                  <a:srgbClr val="D3C8C4"/>
                </a:solidFill>
                <a:latin typeface="Times New Roman"/>
                <a:cs typeface="Times New Roman"/>
              </a:rPr>
              <a:t>implements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55" dirty="0">
                <a:solidFill>
                  <a:srgbClr val="D3C8C4"/>
                </a:solidFill>
                <a:latin typeface="Times New Roman"/>
                <a:cs typeface="Times New Roman"/>
              </a:rPr>
              <a:t>a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95" dirty="0">
                <a:solidFill>
                  <a:srgbClr val="D3C8C4"/>
                </a:solidFill>
                <a:latin typeface="Times New Roman"/>
                <a:cs typeface="Times New Roman"/>
              </a:rPr>
              <a:t>Java-</a:t>
            </a:r>
            <a:r>
              <a:rPr sz="1350" spc="100" dirty="0">
                <a:solidFill>
                  <a:srgbClr val="D3C8C4"/>
                </a:solidFill>
                <a:latin typeface="Times New Roman"/>
                <a:cs typeface="Times New Roman"/>
              </a:rPr>
              <a:t>based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10" dirty="0">
                <a:solidFill>
                  <a:srgbClr val="D3C8C4"/>
                </a:solidFill>
                <a:latin typeface="Times New Roman"/>
                <a:cs typeface="Times New Roman"/>
              </a:rPr>
              <a:t>system</a:t>
            </a:r>
            <a:r>
              <a:rPr sz="1350" spc="3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10" dirty="0">
                <a:solidFill>
                  <a:srgbClr val="D3C8C4"/>
                </a:solidFill>
                <a:latin typeface="Times New Roman"/>
                <a:cs typeface="Times New Roman"/>
              </a:rPr>
              <a:t>using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95" dirty="0">
                <a:solidFill>
                  <a:srgbClr val="D3C8C4"/>
                </a:solidFill>
                <a:latin typeface="Times New Roman"/>
                <a:cs typeface="Times New Roman"/>
              </a:rPr>
              <a:t>core </a:t>
            </a:r>
            <a:r>
              <a:rPr sz="1350" spc="140" dirty="0">
                <a:solidFill>
                  <a:srgbClr val="D3C8C4"/>
                </a:solidFill>
                <a:latin typeface="Times New Roman"/>
                <a:cs typeface="Times New Roman"/>
              </a:rPr>
              <a:t>data</a:t>
            </a:r>
            <a:r>
              <a:rPr sz="1350" spc="1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25" dirty="0">
                <a:solidFill>
                  <a:srgbClr val="D3C8C4"/>
                </a:solidFill>
                <a:latin typeface="Times New Roman"/>
                <a:cs typeface="Times New Roman"/>
              </a:rPr>
              <a:t>structures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65" dirty="0">
                <a:solidFill>
                  <a:srgbClr val="D3C8C4"/>
                </a:solidFill>
                <a:latin typeface="Times New Roman"/>
                <a:cs typeface="Times New Roman"/>
              </a:rPr>
              <a:t>and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14" dirty="0">
                <a:solidFill>
                  <a:srgbClr val="D3C8C4"/>
                </a:solidFill>
                <a:latin typeface="Times New Roman"/>
                <a:cs typeface="Times New Roman"/>
              </a:rPr>
              <a:t>algorithms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95" dirty="0">
                <a:solidFill>
                  <a:srgbClr val="D3C8C4"/>
                </a:solidFill>
                <a:latin typeface="Times New Roman"/>
                <a:cs typeface="Times New Roman"/>
              </a:rPr>
              <a:t>to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35" dirty="0">
                <a:solidFill>
                  <a:srgbClr val="D3C8C4"/>
                </a:solidFill>
                <a:latin typeface="Times New Roman"/>
                <a:cs typeface="Times New Roman"/>
              </a:rPr>
              <a:t>parse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50" dirty="0">
                <a:solidFill>
                  <a:srgbClr val="D3C8C4"/>
                </a:solidFill>
                <a:latin typeface="Times New Roman"/>
                <a:cs typeface="Times New Roman"/>
              </a:rPr>
              <a:t>logs,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05" dirty="0">
                <a:solidFill>
                  <a:srgbClr val="D3C8C4"/>
                </a:solidFill>
                <a:latin typeface="Times New Roman"/>
                <a:cs typeface="Times New Roman"/>
              </a:rPr>
              <a:t>detect</a:t>
            </a:r>
            <a:r>
              <a:rPr sz="1350" spc="1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00" dirty="0">
                <a:solidFill>
                  <a:srgbClr val="D3C8C4"/>
                </a:solidFill>
                <a:latin typeface="Times New Roman"/>
                <a:cs typeface="Times New Roman"/>
              </a:rPr>
              <a:t>suspicious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90" dirty="0">
                <a:solidFill>
                  <a:srgbClr val="D3C8C4"/>
                </a:solidFill>
                <a:latin typeface="Times New Roman"/>
                <a:cs typeface="Times New Roman"/>
              </a:rPr>
              <a:t>events, </a:t>
            </a:r>
            <a:r>
              <a:rPr sz="1350" spc="120" dirty="0">
                <a:solidFill>
                  <a:srgbClr val="D3C8C4"/>
                </a:solidFill>
                <a:latin typeface="Times New Roman"/>
                <a:cs typeface="Times New Roman"/>
              </a:rPr>
              <a:t>correlate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25" dirty="0">
                <a:solidFill>
                  <a:srgbClr val="D3C8C4"/>
                </a:solidFill>
                <a:latin typeface="Times New Roman"/>
                <a:cs typeface="Times New Roman"/>
              </a:rPr>
              <a:t>related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95" dirty="0">
                <a:solidFill>
                  <a:srgbClr val="D3C8C4"/>
                </a:solidFill>
                <a:latin typeface="Times New Roman"/>
                <a:cs typeface="Times New Roman"/>
              </a:rPr>
              <a:t>alerts,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25" dirty="0">
                <a:solidFill>
                  <a:srgbClr val="D3C8C4"/>
                </a:solidFill>
                <a:latin typeface="Times New Roman"/>
                <a:cs typeface="Times New Roman"/>
              </a:rPr>
              <a:t>reconstruct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95" dirty="0">
                <a:solidFill>
                  <a:srgbClr val="D3C8C4"/>
                </a:solidFill>
                <a:latin typeface="Times New Roman"/>
                <a:cs typeface="Times New Roman"/>
              </a:rPr>
              <a:t>multi-step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10" dirty="0">
                <a:solidFill>
                  <a:srgbClr val="D3C8C4"/>
                </a:solidFill>
                <a:latin typeface="Times New Roman"/>
                <a:cs typeface="Times New Roman"/>
              </a:rPr>
              <a:t>attack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20" dirty="0">
                <a:solidFill>
                  <a:srgbClr val="D3C8C4"/>
                </a:solidFill>
                <a:latin typeface="Times New Roman"/>
                <a:cs typeface="Times New Roman"/>
              </a:rPr>
              <a:t>sequences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40" dirty="0">
                <a:solidFill>
                  <a:srgbClr val="D3C8C4"/>
                </a:solidFill>
                <a:latin typeface="Times New Roman"/>
                <a:cs typeface="Times New Roman"/>
              </a:rPr>
              <a:t>(kill </a:t>
            </a:r>
            <a:r>
              <a:rPr sz="1350" spc="90" dirty="0">
                <a:solidFill>
                  <a:srgbClr val="D3C8C4"/>
                </a:solidFill>
                <a:latin typeface="Times New Roman"/>
                <a:cs typeface="Times New Roman"/>
              </a:rPr>
              <a:t>chains),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65" dirty="0">
                <a:solidFill>
                  <a:srgbClr val="D3C8C4"/>
                </a:solidFill>
                <a:latin typeface="Times New Roman"/>
                <a:cs typeface="Times New Roman"/>
              </a:rPr>
              <a:t>and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45" dirty="0">
                <a:solidFill>
                  <a:srgbClr val="D3C8C4"/>
                </a:solidFill>
                <a:latin typeface="Times New Roman"/>
                <a:cs typeface="Times New Roman"/>
              </a:rPr>
              <a:t>recommend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00" dirty="0">
                <a:solidFill>
                  <a:srgbClr val="D3C8C4"/>
                </a:solidFill>
                <a:latin typeface="Times New Roman"/>
                <a:cs typeface="Times New Roman"/>
              </a:rPr>
              <a:t>key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25" dirty="0">
                <a:solidFill>
                  <a:srgbClr val="D3C8C4"/>
                </a:solidFill>
                <a:latin typeface="Times New Roman"/>
                <a:cs typeface="Times New Roman"/>
              </a:rPr>
              <a:t>monitoring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95" dirty="0">
                <a:solidFill>
                  <a:srgbClr val="D3C8C4"/>
                </a:solidFill>
                <a:latin typeface="Times New Roman"/>
                <a:cs typeface="Times New Roman"/>
              </a:rPr>
              <a:t>points.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95" dirty="0">
                <a:solidFill>
                  <a:srgbClr val="D3C8C4"/>
                </a:solidFill>
                <a:latin typeface="Times New Roman"/>
                <a:cs typeface="Times New Roman"/>
              </a:rPr>
              <a:t>Practical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D3C8C4"/>
                </a:solidFill>
                <a:latin typeface="Times New Roman"/>
                <a:cs typeface="Times New Roman"/>
              </a:rPr>
              <a:t>DSA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05" dirty="0">
                <a:solidFill>
                  <a:srgbClr val="D3C8C4"/>
                </a:solidFill>
                <a:latin typeface="Times New Roman"/>
                <a:cs typeface="Times New Roman"/>
              </a:rPr>
              <a:t>used</a:t>
            </a:r>
            <a:endParaRPr sz="1350">
              <a:latin typeface="Times New Roman"/>
              <a:cs typeface="Times New Roman"/>
            </a:endParaRPr>
          </a:p>
          <a:p>
            <a:pPr marL="12700" marR="5080">
              <a:lnSpc>
                <a:spcPct val="129600"/>
              </a:lnSpc>
              <a:spcBef>
                <a:spcPts val="75"/>
              </a:spcBef>
            </a:pPr>
            <a:r>
              <a:rPr sz="1350" spc="110" dirty="0">
                <a:solidFill>
                  <a:srgbClr val="D3C8C4"/>
                </a:solidFill>
                <a:latin typeface="Times New Roman"/>
                <a:cs typeface="Times New Roman"/>
              </a:rPr>
              <a:t>includes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80" dirty="0">
                <a:solidFill>
                  <a:srgbClr val="D3C8C4"/>
                </a:solidFill>
                <a:latin typeface="Times New Roman"/>
                <a:cs typeface="Times New Roman"/>
              </a:rPr>
              <a:t>ArrayList,</a:t>
            </a:r>
            <a:r>
              <a:rPr sz="1350" spc="3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10" dirty="0">
                <a:solidFill>
                  <a:srgbClr val="D3C8C4"/>
                </a:solidFill>
                <a:latin typeface="Times New Roman"/>
                <a:cs typeface="Times New Roman"/>
              </a:rPr>
              <a:t>HashMap,</a:t>
            </a:r>
            <a:r>
              <a:rPr sz="1350" spc="3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00" dirty="0">
                <a:solidFill>
                  <a:srgbClr val="D3C8C4"/>
                </a:solidFill>
                <a:latin typeface="Times New Roman"/>
                <a:cs typeface="Times New Roman"/>
              </a:rPr>
              <a:t>Queue,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80" dirty="0">
                <a:solidFill>
                  <a:srgbClr val="D3C8C4"/>
                </a:solidFill>
                <a:latin typeface="Times New Roman"/>
                <a:cs typeface="Times New Roman"/>
              </a:rPr>
              <a:t>Stack</a:t>
            </a:r>
            <a:r>
              <a:rPr sz="1350" spc="3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65" dirty="0">
                <a:solidFill>
                  <a:srgbClr val="D3C8C4"/>
                </a:solidFill>
                <a:latin typeface="Times New Roman"/>
                <a:cs typeface="Times New Roman"/>
              </a:rPr>
              <a:t>and</a:t>
            </a:r>
            <a:r>
              <a:rPr sz="1350" spc="3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25" dirty="0">
                <a:solidFill>
                  <a:srgbClr val="D3C8C4"/>
                </a:solidFill>
                <a:latin typeface="Times New Roman"/>
                <a:cs typeface="Times New Roman"/>
              </a:rPr>
              <a:t>Graph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25" dirty="0">
                <a:solidFill>
                  <a:srgbClr val="D3C8C4"/>
                </a:solidFill>
                <a:latin typeface="Times New Roman"/>
                <a:cs typeface="Times New Roman"/>
              </a:rPr>
              <a:t>structures</a:t>
            </a:r>
            <a:r>
              <a:rPr sz="1350" spc="3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05" dirty="0">
                <a:solidFill>
                  <a:srgbClr val="D3C8C4"/>
                </a:solidFill>
                <a:latin typeface="Times New Roman"/>
                <a:cs typeface="Times New Roman"/>
              </a:rPr>
              <a:t>with </a:t>
            </a:r>
            <a:r>
              <a:rPr sz="1350" spc="120" dirty="0">
                <a:solidFill>
                  <a:srgbClr val="D3C8C4"/>
                </a:solidFill>
                <a:latin typeface="Times New Roman"/>
                <a:cs typeface="Times New Roman"/>
              </a:rPr>
              <a:t>searching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65" dirty="0">
                <a:solidFill>
                  <a:srgbClr val="D3C8C4"/>
                </a:solidFill>
                <a:latin typeface="Times New Roman"/>
                <a:cs typeface="Times New Roman"/>
              </a:rPr>
              <a:t>and</a:t>
            </a:r>
            <a:r>
              <a:rPr sz="1350" spc="3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20" dirty="0">
                <a:solidFill>
                  <a:srgbClr val="D3C8C4"/>
                </a:solidFill>
                <a:latin typeface="Times New Roman"/>
                <a:cs typeface="Times New Roman"/>
              </a:rPr>
              <a:t>traversal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95" dirty="0">
                <a:solidFill>
                  <a:srgbClr val="D3C8C4"/>
                </a:solidFill>
                <a:latin typeface="Times New Roman"/>
                <a:cs typeface="Times New Roman"/>
              </a:rPr>
              <a:t>algorithms.</a:t>
            </a:r>
            <a:endParaRPr sz="135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412" y="0"/>
            <a:ext cx="4284208" cy="64385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8648700"/>
          </a:xfrm>
          <a:custGeom>
            <a:avLst/>
            <a:gdLst/>
            <a:ahLst/>
            <a:cxnLst/>
            <a:rect l="l" t="t" r="r" b="b"/>
            <a:pathLst>
              <a:path w="11430000" h="8648700">
                <a:moveTo>
                  <a:pt x="11429999" y="8648699"/>
                </a:moveTo>
                <a:lnTo>
                  <a:pt x="0" y="86486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8648699"/>
                </a:lnTo>
                <a:close/>
              </a:path>
            </a:pathLst>
          </a:custGeom>
          <a:solidFill>
            <a:srgbClr val="40323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0909" y="5386339"/>
            <a:ext cx="5838825" cy="14668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43750" y="148"/>
            <a:ext cx="4286249" cy="8648551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70" dirty="0"/>
              <a:t>Introduction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87374" y="1052179"/>
            <a:ext cx="5926455" cy="3479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66800" indent="229870">
              <a:lnSpc>
                <a:spcPct val="130800"/>
              </a:lnSpc>
              <a:spcBef>
                <a:spcPts val="100"/>
              </a:spcBef>
              <a:buChar char="-"/>
              <a:tabLst>
                <a:tab pos="242570" algn="l"/>
              </a:tabLst>
            </a:pPr>
            <a:r>
              <a:rPr sz="1350" spc="110" dirty="0">
                <a:solidFill>
                  <a:srgbClr val="D3C8C4"/>
                </a:solidFill>
                <a:latin typeface="Times New Roman"/>
                <a:cs typeface="Times New Roman"/>
              </a:rPr>
              <a:t>Cybersecuritylogs:timestampedrecords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70" dirty="0">
                <a:solidFill>
                  <a:srgbClr val="D3C8C4"/>
                </a:solidFill>
                <a:latin typeface="Times New Roman"/>
                <a:cs typeface="Times New Roman"/>
              </a:rPr>
              <a:t>of</a:t>
            </a:r>
            <a:r>
              <a:rPr sz="1350" spc="3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20" dirty="0">
                <a:solidFill>
                  <a:srgbClr val="D3C8C4"/>
                </a:solidFill>
                <a:latin typeface="Times New Roman"/>
                <a:cs typeface="Times New Roman"/>
              </a:rPr>
              <a:t>events</a:t>
            </a:r>
            <a:r>
              <a:rPr sz="1350" spc="3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55" dirty="0">
                <a:solidFill>
                  <a:srgbClr val="D3C8C4"/>
                </a:solidFill>
                <a:latin typeface="Times New Roman"/>
                <a:cs typeface="Times New Roman"/>
              </a:rPr>
              <a:t>(logins, </a:t>
            </a:r>
            <a:r>
              <a:rPr sz="1350" spc="100" dirty="0">
                <a:solidFill>
                  <a:srgbClr val="D3C8C4"/>
                </a:solidFill>
                <a:latin typeface="Times New Roman"/>
                <a:cs typeface="Times New Roman"/>
              </a:rPr>
              <a:t>connections,</a:t>
            </a:r>
            <a:r>
              <a:rPr sz="1350" spc="3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95" dirty="0">
                <a:solidFill>
                  <a:srgbClr val="D3C8C4"/>
                </a:solidFill>
                <a:latin typeface="Times New Roman"/>
                <a:cs typeface="Times New Roman"/>
              </a:rPr>
              <a:t>errors).</a:t>
            </a:r>
            <a:endParaRPr sz="1350">
              <a:latin typeface="Times New Roman"/>
              <a:cs typeface="Times New Roman"/>
            </a:endParaRPr>
          </a:p>
          <a:p>
            <a:pPr marL="12700" marR="690880" lvl="1" indent="320040">
              <a:lnSpc>
                <a:spcPct val="134300"/>
              </a:lnSpc>
              <a:spcBef>
                <a:spcPts val="1355"/>
              </a:spcBef>
              <a:buChar char="-"/>
              <a:tabLst>
                <a:tab pos="332740" algn="l"/>
              </a:tabLst>
            </a:pPr>
            <a:r>
              <a:rPr sz="1350" spc="120" dirty="0">
                <a:solidFill>
                  <a:srgbClr val="D3C8C4"/>
                </a:solidFill>
                <a:latin typeface="Times New Roman"/>
                <a:cs typeface="Times New Roman"/>
              </a:rPr>
              <a:t>Threat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85" dirty="0">
                <a:solidFill>
                  <a:srgbClr val="D3C8C4"/>
                </a:solidFill>
                <a:latin typeface="Times New Roman"/>
                <a:cs typeface="Times New Roman"/>
              </a:rPr>
              <a:t>intelligence:</a:t>
            </a:r>
            <a:r>
              <a:rPr sz="1350" spc="3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10" dirty="0">
                <a:solidFill>
                  <a:srgbClr val="D3C8C4"/>
                </a:solidFill>
                <a:latin typeface="Times New Roman"/>
                <a:cs typeface="Times New Roman"/>
              </a:rPr>
              <a:t>evidence</a:t>
            </a:r>
            <a:r>
              <a:rPr sz="1350" spc="3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65" dirty="0">
                <a:solidFill>
                  <a:srgbClr val="D3C8C4"/>
                </a:solidFill>
                <a:latin typeface="Times New Roman"/>
                <a:cs typeface="Times New Roman"/>
              </a:rPr>
              <a:t>and</a:t>
            </a:r>
            <a:r>
              <a:rPr sz="1350" spc="3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05" dirty="0">
                <a:solidFill>
                  <a:srgbClr val="D3C8C4"/>
                </a:solidFill>
                <a:latin typeface="Times New Roman"/>
                <a:cs typeface="Times New Roman"/>
              </a:rPr>
              <a:t>context</a:t>
            </a:r>
            <a:r>
              <a:rPr sz="1350" spc="3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25" dirty="0">
                <a:solidFill>
                  <a:srgbClr val="D3C8C4"/>
                </a:solidFill>
                <a:latin typeface="Times New Roman"/>
                <a:cs typeface="Times New Roman"/>
              </a:rPr>
              <a:t>used</a:t>
            </a:r>
            <a:r>
              <a:rPr sz="1350" spc="3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95" dirty="0">
                <a:solidFill>
                  <a:srgbClr val="D3C8C4"/>
                </a:solidFill>
                <a:latin typeface="Times New Roman"/>
                <a:cs typeface="Times New Roman"/>
              </a:rPr>
              <a:t>to</a:t>
            </a:r>
            <a:r>
              <a:rPr sz="1350" spc="3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05" dirty="0">
                <a:solidFill>
                  <a:srgbClr val="D3C8C4"/>
                </a:solidFill>
                <a:latin typeface="Times New Roman"/>
                <a:cs typeface="Times New Roman"/>
              </a:rPr>
              <a:t>detect</a:t>
            </a:r>
            <a:r>
              <a:rPr sz="1350" spc="3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40" dirty="0">
                <a:solidFill>
                  <a:srgbClr val="D3C8C4"/>
                </a:solidFill>
                <a:latin typeface="Times New Roman"/>
                <a:cs typeface="Times New Roman"/>
              </a:rPr>
              <a:t>and </a:t>
            </a:r>
            <a:r>
              <a:rPr sz="1350" spc="105" dirty="0">
                <a:solidFill>
                  <a:srgbClr val="D3C8C4"/>
                </a:solidFill>
                <a:latin typeface="Times New Roman"/>
                <a:cs typeface="Times New Roman"/>
              </a:rPr>
              <a:t>prioritise</a:t>
            </a:r>
            <a:r>
              <a:rPr sz="1350" spc="3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00" dirty="0">
                <a:solidFill>
                  <a:srgbClr val="D3C8C4"/>
                </a:solidFill>
                <a:latin typeface="Times New Roman"/>
                <a:cs typeface="Times New Roman"/>
              </a:rPr>
              <a:t>threats.</a:t>
            </a:r>
            <a:endParaRPr sz="1350">
              <a:latin typeface="Times New Roman"/>
              <a:cs typeface="Times New Roman"/>
            </a:endParaRPr>
          </a:p>
          <a:p>
            <a:pPr marL="12700" marR="499109" lvl="1" indent="320040">
              <a:lnSpc>
                <a:spcPct val="129600"/>
              </a:lnSpc>
              <a:spcBef>
                <a:spcPts val="75"/>
              </a:spcBef>
              <a:buChar char="-"/>
              <a:tabLst>
                <a:tab pos="332740" algn="l"/>
              </a:tabLst>
            </a:pPr>
            <a:r>
              <a:rPr sz="1350" spc="105" dirty="0">
                <a:solidFill>
                  <a:srgbClr val="D3C8C4"/>
                </a:solidFill>
                <a:latin typeface="Times New Roman"/>
                <a:cs typeface="Times New Roman"/>
              </a:rPr>
              <a:t>Need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10" dirty="0">
                <a:solidFill>
                  <a:srgbClr val="D3C8C4"/>
                </a:solidFill>
                <a:latin typeface="Times New Roman"/>
                <a:cs typeface="Times New Roman"/>
              </a:rPr>
              <a:t>for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90" dirty="0">
                <a:solidFill>
                  <a:srgbClr val="D3C8C4"/>
                </a:solidFill>
                <a:latin typeface="Times New Roman"/>
                <a:cs typeface="Times New Roman"/>
              </a:rPr>
              <a:t>analysis:</a:t>
            </a:r>
            <a:r>
              <a:rPr sz="1350" spc="3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75" dirty="0">
                <a:solidFill>
                  <a:srgbClr val="D3C8C4"/>
                </a:solidFill>
                <a:latin typeface="Times New Roman"/>
                <a:cs typeface="Times New Roman"/>
              </a:rPr>
              <a:t>raw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65" dirty="0">
                <a:solidFill>
                  <a:srgbClr val="D3C8C4"/>
                </a:solidFill>
                <a:latin typeface="Times New Roman"/>
                <a:cs typeface="Times New Roman"/>
              </a:rPr>
              <a:t>logs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50" dirty="0">
                <a:solidFill>
                  <a:srgbClr val="D3C8C4"/>
                </a:solidFill>
                <a:latin typeface="Times New Roman"/>
                <a:cs typeface="Times New Roman"/>
              </a:rPr>
              <a:t>are</a:t>
            </a:r>
            <a:r>
              <a:rPr sz="1350" spc="3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85" dirty="0">
                <a:solidFill>
                  <a:srgbClr val="D3C8C4"/>
                </a:solidFill>
                <a:latin typeface="Times New Roman"/>
                <a:cs typeface="Times New Roman"/>
              </a:rPr>
              <a:t>noisy;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30" dirty="0">
                <a:solidFill>
                  <a:srgbClr val="D3C8C4"/>
                </a:solidFill>
                <a:latin typeface="Times New Roman"/>
                <a:cs typeface="Times New Roman"/>
              </a:rPr>
              <a:t>patterns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30" dirty="0">
                <a:solidFill>
                  <a:srgbClr val="D3C8C4"/>
                </a:solidFill>
                <a:latin typeface="Times New Roman"/>
                <a:cs typeface="Times New Roman"/>
              </a:rPr>
              <a:t>spanning</a:t>
            </a:r>
            <a:r>
              <a:rPr sz="1350" spc="3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45" dirty="0">
                <a:solidFill>
                  <a:srgbClr val="D3C8C4"/>
                </a:solidFill>
                <a:latin typeface="Times New Roman"/>
                <a:cs typeface="Times New Roman"/>
              </a:rPr>
              <a:t>many </a:t>
            </a:r>
            <a:r>
              <a:rPr sz="1350" spc="120" dirty="0">
                <a:solidFill>
                  <a:srgbClr val="D3C8C4"/>
                </a:solidFill>
                <a:latin typeface="Times New Roman"/>
                <a:cs typeface="Times New Roman"/>
              </a:rPr>
              <a:t>events</a:t>
            </a:r>
            <a:r>
              <a:rPr sz="1350" spc="1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20" dirty="0">
                <a:solidFill>
                  <a:srgbClr val="D3C8C4"/>
                </a:solidFill>
                <a:latin typeface="Times New Roman"/>
                <a:cs typeface="Times New Roman"/>
              </a:rPr>
              <a:t>reveal</a:t>
            </a:r>
            <a:r>
              <a:rPr sz="1350" spc="1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85" dirty="0">
                <a:solidFill>
                  <a:srgbClr val="D3C8C4"/>
                </a:solidFill>
                <a:latin typeface="Times New Roman"/>
                <a:cs typeface="Times New Roman"/>
              </a:rPr>
              <a:t>attacks.</a:t>
            </a:r>
            <a:endParaRPr sz="1350">
              <a:latin typeface="Times New Roman"/>
              <a:cs typeface="Times New Roman"/>
            </a:endParaRPr>
          </a:p>
          <a:p>
            <a:pPr marL="12700" marR="738505" lvl="1" indent="320040">
              <a:lnSpc>
                <a:spcPct val="134300"/>
              </a:lnSpc>
              <a:buChar char="-"/>
              <a:tabLst>
                <a:tab pos="332740" algn="l"/>
              </a:tabLst>
            </a:pPr>
            <a:r>
              <a:rPr sz="1350" spc="95" dirty="0">
                <a:solidFill>
                  <a:srgbClr val="D3C8C4"/>
                </a:solidFill>
                <a:latin typeface="Times New Roman"/>
                <a:cs typeface="Times New Roman"/>
              </a:rPr>
              <a:t>Security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00" dirty="0">
                <a:solidFill>
                  <a:srgbClr val="D3C8C4"/>
                </a:solidFill>
                <a:latin typeface="Times New Roman"/>
                <a:cs typeface="Times New Roman"/>
              </a:rPr>
              <a:t>alert: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55" dirty="0">
                <a:solidFill>
                  <a:srgbClr val="D3C8C4"/>
                </a:solidFill>
                <a:latin typeface="Times New Roman"/>
                <a:cs typeface="Times New Roman"/>
              </a:rPr>
              <a:t>a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85" dirty="0">
                <a:solidFill>
                  <a:srgbClr val="D3C8C4"/>
                </a:solidFill>
                <a:latin typeface="Times New Roman"/>
                <a:cs typeface="Times New Roman"/>
              </a:rPr>
              <a:t>flagged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25" dirty="0">
                <a:solidFill>
                  <a:srgbClr val="D3C8C4"/>
                </a:solidFill>
                <a:latin typeface="Times New Roman"/>
                <a:cs typeface="Times New Roman"/>
              </a:rPr>
              <a:t>event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30" dirty="0">
                <a:solidFill>
                  <a:srgbClr val="D3C8C4"/>
                </a:solidFill>
                <a:latin typeface="Times New Roman"/>
                <a:cs typeface="Times New Roman"/>
              </a:rPr>
              <a:t>requiring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25" dirty="0">
                <a:solidFill>
                  <a:srgbClr val="D3C8C4"/>
                </a:solidFill>
                <a:latin typeface="Times New Roman"/>
                <a:cs typeface="Times New Roman"/>
              </a:rPr>
              <a:t>attention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75" dirty="0">
                <a:solidFill>
                  <a:srgbClr val="D3C8C4"/>
                </a:solidFill>
                <a:latin typeface="Times New Roman"/>
                <a:cs typeface="Times New Roman"/>
              </a:rPr>
              <a:t>(single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14" dirty="0">
                <a:solidFill>
                  <a:srgbClr val="D3C8C4"/>
                </a:solidFill>
                <a:latin typeface="Times New Roman"/>
                <a:cs typeface="Times New Roman"/>
              </a:rPr>
              <a:t>or </a:t>
            </a:r>
            <a:r>
              <a:rPr sz="1350" spc="90" dirty="0">
                <a:solidFill>
                  <a:srgbClr val="D3C8C4"/>
                </a:solidFill>
                <a:latin typeface="Times New Roman"/>
                <a:cs typeface="Times New Roman"/>
              </a:rPr>
              <a:t>correlated).</a:t>
            </a:r>
            <a:endParaRPr sz="1350">
              <a:latin typeface="Times New Roman"/>
              <a:cs typeface="Times New Roman"/>
            </a:endParaRPr>
          </a:p>
          <a:p>
            <a:pPr marL="12700" marR="422275" lvl="1" indent="320040">
              <a:lnSpc>
                <a:spcPct val="134300"/>
              </a:lnSpc>
              <a:buChar char="-"/>
              <a:tabLst>
                <a:tab pos="332740" algn="l"/>
              </a:tabLst>
            </a:pPr>
            <a:r>
              <a:rPr sz="1350" dirty="0">
                <a:solidFill>
                  <a:srgbClr val="D3C8C4"/>
                </a:solidFill>
                <a:latin typeface="Times New Roman"/>
                <a:cs typeface="Times New Roman"/>
              </a:rPr>
              <a:t>Kill</a:t>
            </a:r>
            <a:r>
              <a:rPr sz="1350" spc="3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10" dirty="0">
                <a:solidFill>
                  <a:srgbClr val="D3C8C4"/>
                </a:solidFill>
                <a:latin typeface="Times New Roman"/>
                <a:cs typeface="Times New Roman"/>
              </a:rPr>
              <a:t>chain:</a:t>
            </a:r>
            <a:r>
              <a:rPr sz="1350" spc="3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40" dirty="0">
                <a:solidFill>
                  <a:srgbClr val="D3C8C4"/>
                </a:solidFill>
                <a:latin typeface="Times New Roman"/>
                <a:cs typeface="Times New Roman"/>
              </a:rPr>
              <a:t>ordered</a:t>
            </a:r>
            <a:r>
              <a:rPr sz="1350" spc="3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05" dirty="0">
                <a:solidFill>
                  <a:srgbClr val="D3C8C4"/>
                </a:solidFill>
                <a:latin typeface="Times New Roman"/>
                <a:cs typeface="Times New Roman"/>
              </a:rPr>
              <a:t>steps</a:t>
            </a:r>
            <a:r>
              <a:rPr sz="1350" spc="3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70" dirty="0">
                <a:solidFill>
                  <a:srgbClr val="D3C8C4"/>
                </a:solidFill>
                <a:latin typeface="Times New Roman"/>
                <a:cs typeface="Times New Roman"/>
              </a:rPr>
              <a:t>an</a:t>
            </a:r>
            <a:r>
              <a:rPr sz="1350" spc="3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20" dirty="0">
                <a:solidFill>
                  <a:srgbClr val="D3C8C4"/>
                </a:solidFill>
                <a:latin typeface="Times New Roman"/>
                <a:cs typeface="Times New Roman"/>
              </a:rPr>
              <a:t>attacker</a:t>
            </a:r>
            <a:r>
              <a:rPr sz="1350" spc="3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10" dirty="0">
                <a:solidFill>
                  <a:srgbClr val="D3C8C4"/>
                </a:solidFill>
                <a:latin typeface="Times New Roman"/>
                <a:cs typeface="Times New Roman"/>
              </a:rPr>
              <a:t>takes</a:t>
            </a:r>
            <a:r>
              <a:rPr sz="1350" spc="3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35" dirty="0">
                <a:solidFill>
                  <a:srgbClr val="D3C8C4"/>
                </a:solidFill>
                <a:latin typeface="Times New Roman"/>
                <a:cs typeface="Times New Roman"/>
              </a:rPr>
              <a:t>from</a:t>
            </a:r>
            <a:r>
              <a:rPr sz="1350" spc="3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90" dirty="0">
                <a:solidFill>
                  <a:srgbClr val="D3C8C4"/>
                </a:solidFill>
                <a:latin typeface="Times New Roman"/>
                <a:cs typeface="Times New Roman"/>
              </a:rPr>
              <a:t>initial</a:t>
            </a:r>
            <a:r>
              <a:rPr sz="1350" spc="3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90" dirty="0">
                <a:solidFill>
                  <a:srgbClr val="D3C8C4"/>
                </a:solidFill>
                <a:latin typeface="Times New Roman"/>
                <a:cs typeface="Times New Roman"/>
              </a:rPr>
              <a:t>access</a:t>
            </a:r>
            <a:r>
              <a:rPr sz="1350" spc="3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70" dirty="0">
                <a:solidFill>
                  <a:srgbClr val="D3C8C4"/>
                </a:solidFill>
                <a:latin typeface="Times New Roman"/>
                <a:cs typeface="Times New Roman"/>
              </a:rPr>
              <a:t>to objective.</a:t>
            </a:r>
            <a:endParaRPr sz="1350">
              <a:latin typeface="Times New Roman"/>
              <a:cs typeface="Times New Roman"/>
            </a:endParaRPr>
          </a:p>
          <a:p>
            <a:pPr marL="12700" marR="5080" lvl="1" indent="320040">
              <a:lnSpc>
                <a:spcPts val="2180"/>
              </a:lnSpc>
              <a:spcBef>
                <a:spcPts val="15"/>
              </a:spcBef>
              <a:buChar char="-"/>
              <a:tabLst>
                <a:tab pos="332740" algn="l"/>
              </a:tabLst>
            </a:pPr>
            <a:r>
              <a:rPr sz="1350" spc="105" dirty="0">
                <a:solidFill>
                  <a:srgbClr val="D3C8C4"/>
                </a:solidFill>
                <a:latin typeface="Times New Roman"/>
                <a:cs typeface="Times New Roman"/>
              </a:rPr>
              <a:t>Correlation</a:t>
            </a:r>
            <a:r>
              <a:rPr sz="1350" spc="3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20" dirty="0">
                <a:solidFill>
                  <a:srgbClr val="D3C8C4"/>
                </a:solidFill>
                <a:latin typeface="Times New Roman"/>
                <a:cs typeface="Times New Roman"/>
              </a:rPr>
              <a:t>importance:</a:t>
            </a:r>
            <a:r>
              <a:rPr sz="1350" spc="3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95" dirty="0">
                <a:solidFill>
                  <a:srgbClr val="D3C8C4"/>
                </a:solidFill>
                <a:latin typeface="Times New Roman"/>
                <a:cs typeface="Times New Roman"/>
              </a:rPr>
              <a:t>linking</a:t>
            </a:r>
            <a:r>
              <a:rPr sz="1350" spc="3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10" dirty="0">
                <a:solidFill>
                  <a:srgbClr val="D3C8C4"/>
                </a:solidFill>
                <a:latin typeface="Times New Roman"/>
                <a:cs typeface="Times New Roman"/>
              </a:rPr>
              <a:t>alerts</a:t>
            </a:r>
            <a:r>
              <a:rPr sz="1350" spc="3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10" dirty="0">
                <a:solidFill>
                  <a:srgbClr val="D3C8C4"/>
                </a:solidFill>
                <a:latin typeface="Times New Roman"/>
                <a:cs typeface="Times New Roman"/>
              </a:rPr>
              <a:t>reveals</a:t>
            </a:r>
            <a:r>
              <a:rPr sz="1350" spc="3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95" dirty="0">
                <a:solidFill>
                  <a:srgbClr val="D3C8C4"/>
                </a:solidFill>
                <a:latin typeface="Times New Roman"/>
                <a:cs typeface="Times New Roman"/>
              </a:rPr>
              <a:t>multi-step</a:t>
            </a:r>
            <a:r>
              <a:rPr sz="1350" spc="3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05" dirty="0">
                <a:solidFill>
                  <a:srgbClr val="D3C8C4"/>
                </a:solidFill>
                <a:latin typeface="Times New Roman"/>
                <a:cs typeface="Times New Roman"/>
              </a:rPr>
              <a:t>attacks</a:t>
            </a:r>
            <a:r>
              <a:rPr sz="1350" spc="3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40" dirty="0">
                <a:solidFill>
                  <a:srgbClr val="D3C8C4"/>
                </a:solidFill>
                <a:latin typeface="Times New Roman"/>
                <a:cs typeface="Times New Roman"/>
              </a:rPr>
              <a:t>and </a:t>
            </a:r>
            <a:r>
              <a:rPr sz="1350" spc="85" dirty="0">
                <a:solidFill>
                  <a:srgbClr val="D3C8C4"/>
                </a:solidFill>
                <a:latin typeface="Times New Roman"/>
                <a:cs typeface="Times New Roman"/>
              </a:rPr>
              <a:t>critical</a:t>
            </a:r>
            <a:r>
              <a:rPr sz="1350" spc="4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00" dirty="0">
                <a:solidFill>
                  <a:srgbClr val="D3C8C4"/>
                </a:solidFill>
                <a:latin typeface="Times New Roman"/>
                <a:cs typeface="Times New Roman"/>
              </a:rPr>
              <a:t>paths.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67693" y="4856560"/>
            <a:ext cx="913130" cy="4222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lnSpc>
                <a:spcPts val="1190"/>
              </a:lnSpc>
              <a:spcBef>
                <a:spcPts val="110"/>
              </a:spcBef>
            </a:pPr>
            <a:r>
              <a:rPr sz="1000" b="1" spc="50" dirty="0">
                <a:solidFill>
                  <a:srgbClr val="D3C8C4"/>
                </a:solidFill>
                <a:latin typeface="Cambria"/>
                <a:cs typeface="Cambria"/>
              </a:rPr>
              <a:t>Security</a:t>
            </a:r>
            <a:r>
              <a:rPr sz="1000" b="1" spc="60" dirty="0">
                <a:solidFill>
                  <a:srgbClr val="D3C8C4"/>
                </a:solidFill>
                <a:latin typeface="Cambria"/>
                <a:cs typeface="Cambria"/>
              </a:rPr>
              <a:t> </a:t>
            </a:r>
            <a:r>
              <a:rPr sz="1000" b="1" spc="-20" dirty="0">
                <a:solidFill>
                  <a:srgbClr val="D3C8C4"/>
                </a:solidFill>
                <a:latin typeface="Cambria"/>
                <a:cs typeface="Cambria"/>
              </a:rPr>
              <a:t>Logs</a:t>
            </a:r>
            <a:endParaRPr sz="1000">
              <a:latin typeface="Cambria"/>
              <a:cs typeface="Cambria"/>
            </a:endParaRPr>
          </a:p>
          <a:p>
            <a:pPr marL="12065" marR="5080" algn="ctr">
              <a:lnSpc>
                <a:spcPts val="980"/>
              </a:lnSpc>
              <a:spcBef>
                <a:spcPts val="5"/>
              </a:spcBef>
            </a:pPr>
            <a:r>
              <a:rPr sz="800" spc="75" dirty="0">
                <a:solidFill>
                  <a:srgbClr val="D3C8C4"/>
                </a:solidFill>
                <a:latin typeface="Times New Roman"/>
                <a:cs typeface="Times New Roman"/>
              </a:rPr>
              <a:t>Timestamped</a:t>
            </a:r>
            <a:r>
              <a:rPr sz="800" spc="1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800" spc="85" dirty="0">
                <a:solidFill>
                  <a:srgbClr val="D3C8C4"/>
                </a:solidFill>
                <a:latin typeface="Times New Roman"/>
                <a:cs typeface="Times New Roman"/>
              </a:rPr>
              <a:t>raw </a:t>
            </a:r>
            <a:r>
              <a:rPr sz="800" spc="75" dirty="0">
                <a:solidFill>
                  <a:srgbClr val="D3C8C4"/>
                </a:solidFill>
                <a:latin typeface="Times New Roman"/>
                <a:cs typeface="Times New Roman"/>
              </a:rPr>
              <a:t>event</a:t>
            </a:r>
            <a:r>
              <a:rPr sz="800" spc="1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800" spc="65" dirty="0">
                <a:solidFill>
                  <a:srgbClr val="D3C8C4"/>
                </a:solidFill>
                <a:latin typeface="Times New Roman"/>
                <a:cs typeface="Times New Roman"/>
              </a:rPr>
              <a:t>records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07756" y="4751771"/>
            <a:ext cx="925194" cy="59055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84455" marR="76200" indent="-19050" algn="ctr">
              <a:lnSpc>
                <a:spcPct val="103899"/>
              </a:lnSpc>
              <a:spcBef>
                <a:spcPts val="65"/>
              </a:spcBef>
            </a:pPr>
            <a:r>
              <a:rPr sz="1000" b="1" spc="45" dirty="0">
                <a:solidFill>
                  <a:srgbClr val="D3C8C4"/>
                </a:solidFill>
                <a:latin typeface="Cambria"/>
                <a:cs typeface="Cambria"/>
              </a:rPr>
              <a:t>Alert </a:t>
            </a:r>
            <a:r>
              <a:rPr sz="1000" b="1" spc="40" dirty="0">
                <a:solidFill>
                  <a:srgbClr val="D3C8C4"/>
                </a:solidFill>
                <a:latin typeface="Cambria"/>
                <a:cs typeface="Cambria"/>
              </a:rPr>
              <a:t>Correlation</a:t>
            </a:r>
            <a:endParaRPr sz="1000">
              <a:latin typeface="Cambria"/>
              <a:cs typeface="Cambria"/>
            </a:endParaRPr>
          </a:p>
          <a:p>
            <a:pPr marL="12700" marR="5080" algn="ctr">
              <a:lnSpc>
                <a:spcPct val="101600"/>
              </a:lnSpc>
              <a:spcBef>
                <a:spcPts val="35"/>
              </a:spcBef>
            </a:pPr>
            <a:r>
              <a:rPr sz="800" spc="55" dirty="0">
                <a:solidFill>
                  <a:srgbClr val="D3C8C4"/>
                </a:solidFill>
                <a:latin typeface="Times New Roman"/>
                <a:cs typeface="Times New Roman"/>
              </a:rPr>
              <a:t>Link</a:t>
            </a:r>
            <a:r>
              <a:rPr sz="800" spc="1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800" spc="75" dirty="0">
                <a:solidFill>
                  <a:srgbClr val="D3C8C4"/>
                </a:solidFill>
                <a:latin typeface="Times New Roman"/>
                <a:cs typeface="Times New Roman"/>
              </a:rPr>
              <a:t>related</a:t>
            </a:r>
            <a:r>
              <a:rPr sz="800" spc="1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800" spc="55" dirty="0">
                <a:solidFill>
                  <a:srgbClr val="D3C8C4"/>
                </a:solidFill>
                <a:latin typeface="Times New Roman"/>
                <a:cs typeface="Times New Roman"/>
              </a:rPr>
              <a:t>alerts </a:t>
            </a:r>
            <a:r>
              <a:rPr sz="800" spc="65" dirty="0">
                <a:solidFill>
                  <a:srgbClr val="D3C8C4"/>
                </a:solidFill>
                <a:latin typeface="Times New Roman"/>
                <a:cs typeface="Times New Roman"/>
              </a:rPr>
              <a:t>into</a:t>
            </a:r>
            <a:r>
              <a:rPr sz="800" spc="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800" spc="55" dirty="0">
                <a:solidFill>
                  <a:srgbClr val="D3C8C4"/>
                </a:solidFill>
                <a:latin typeface="Times New Roman"/>
                <a:cs typeface="Times New Roman"/>
              </a:rPr>
              <a:t>incidents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72727" y="6763318"/>
            <a:ext cx="920750" cy="657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0020" marR="125730" algn="ctr">
              <a:lnSpc>
                <a:spcPct val="108800"/>
              </a:lnSpc>
              <a:spcBef>
                <a:spcPts val="95"/>
              </a:spcBef>
            </a:pPr>
            <a:r>
              <a:rPr sz="1000" b="1" spc="-10" dirty="0">
                <a:solidFill>
                  <a:srgbClr val="D3C8C4"/>
                </a:solidFill>
                <a:latin typeface="Cambria"/>
                <a:cs typeface="Cambria"/>
              </a:rPr>
              <a:t>Threat </a:t>
            </a:r>
            <a:r>
              <a:rPr sz="1000" b="1" spc="35" dirty="0">
                <a:solidFill>
                  <a:srgbClr val="D3C8C4"/>
                </a:solidFill>
                <a:latin typeface="Cambria"/>
                <a:cs typeface="Cambria"/>
              </a:rPr>
              <a:t>Detection</a:t>
            </a:r>
            <a:endParaRPr sz="1000">
              <a:latin typeface="Cambria"/>
              <a:cs typeface="Cambria"/>
            </a:endParaRPr>
          </a:p>
          <a:p>
            <a:pPr marL="12700" marR="5080" algn="ctr">
              <a:lnSpc>
                <a:spcPct val="103099"/>
              </a:lnSpc>
              <a:spcBef>
                <a:spcPts val="390"/>
              </a:spcBef>
            </a:pPr>
            <a:r>
              <a:rPr sz="800" spc="45" dirty="0">
                <a:solidFill>
                  <a:srgbClr val="D3C8C4"/>
                </a:solidFill>
                <a:latin typeface="Times New Roman"/>
                <a:cs typeface="Times New Roman"/>
              </a:rPr>
              <a:t>Identifysuspicious </a:t>
            </a:r>
            <a:r>
              <a:rPr sz="800" spc="70" dirty="0">
                <a:solidFill>
                  <a:srgbClr val="D3C8C4"/>
                </a:solidFill>
                <a:latin typeface="Times New Roman"/>
                <a:cs typeface="Times New Roman"/>
              </a:rPr>
              <a:t>patterns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34566" y="6764739"/>
            <a:ext cx="883919" cy="6565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0975" marR="145415" indent="-8890" algn="ctr">
              <a:lnSpc>
                <a:spcPct val="106300"/>
              </a:lnSpc>
              <a:spcBef>
                <a:spcPts val="95"/>
              </a:spcBef>
            </a:pPr>
            <a:r>
              <a:rPr sz="1000" b="1" spc="40" dirty="0">
                <a:solidFill>
                  <a:srgbClr val="D3C8C4"/>
                </a:solidFill>
                <a:latin typeface="Cambria"/>
                <a:cs typeface="Cambria"/>
              </a:rPr>
              <a:t>Security Analysis</a:t>
            </a:r>
            <a:endParaRPr sz="1000">
              <a:latin typeface="Cambria"/>
              <a:cs typeface="Cambria"/>
            </a:endParaRPr>
          </a:p>
          <a:p>
            <a:pPr marL="12700" marR="5080" indent="-1270" algn="ctr">
              <a:lnSpc>
                <a:spcPct val="103099"/>
              </a:lnSpc>
              <a:spcBef>
                <a:spcPts val="440"/>
              </a:spcBef>
            </a:pPr>
            <a:r>
              <a:rPr sz="800" spc="55" dirty="0">
                <a:solidFill>
                  <a:srgbClr val="D3C8C4"/>
                </a:solidFill>
                <a:latin typeface="Times New Roman"/>
                <a:cs typeface="Times New Roman"/>
              </a:rPr>
              <a:t>Contextualizeand </a:t>
            </a:r>
            <a:r>
              <a:rPr sz="800" spc="65" dirty="0">
                <a:solidFill>
                  <a:srgbClr val="D3C8C4"/>
                </a:solidFill>
                <a:latin typeface="Times New Roman"/>
                <a:cs typeface="Times New Roman"/>
              </a:rPr>
              <a:t>prioritize</a:t>
            </a:r>
            <a:r>
              <a:rPr sz="800" spc="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800" spc="65" dirty="0">
                <a:solidFill>
                  <a:srgbClr val="D3C8C4"/>
                </a:solidFill>
                <a:latin typeface="Times New Roman"/>
                <a:cs typeface="Times New Roman"/>
              </a:rPr>
              <a:t>threats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1974" y="7573771"/>
            <a:ext cx="551815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 indent="44450">
              <a:lnSpc>
                <a:spcPct val="129600"/>
              </a:lnSpc>
              <a:spcBef>
                <a:spcPts val="100"/>
              </a:spcBef>
            </a:pPr>
            <a:r>
              <a:rPr sz="1350" spc="75" dirty="0">
                <a:solidFill>
                  <a:srgbClr val="D3C8C4"/>
                </a:solidFill>
                <a:latin typeface="Times New Roman"/>
                <a:cs typeface="Times New Roman"/>
              </a:rPr>
              <a:t>Flow:</a:t>
            </a:r>
            <a:r>
              <a:rPr sz="1350" spc="1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95" dirty="0">
                <a:solidFill>
                  <a:srgbClr val="D3C8C4"/>
                </a:solidFill>
                <a:latin typeface="Times New Roman"/>
                <a:cs typeface="Times New Roman"/>
              </a:rPr>
              <a:t>Security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60" dirty="0">
                <a:solidFill>
                  <a:srgbClr val="D3C8C4"/>
                </a:solidFill>
                <a:latin typeface="Times New Roman"/>
                <a:cs typeface="Times New Roman"/>
              </a:rPr>
              <a:t>Logs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D3C8C4"/>
                </a:solidFill>
                <a:latin typeface="Times New Roman"/>
                <a:cs typeface="Times New Roman"/>
              </a:rPr>
              <a:t>→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20" dirty="0">
                <a:solidFill>
                  <a:srgbClr val="D3C8C4"/>
                </a:solidFill>
                <a:latin typeface="Times New Roman"/>
                <a:cs typeface="Times New Roman"/>
              </a:rPr>
              <a:t>Threat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90" dirty="0">
                <a:solidFill>
                  <a:srgbClr val="D3C8C4"/>
                </a:solidFill>
                <a:latin typeface="Times New Roman"/>
                <a:cs typeface="Times New Roman"/>
              </a:rPr>
              <a:t>Detection</a:t>
            </a:r>
            <a:r>
              <a:rPr sz="1350" spc="1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D3C8C4"/>
                </a:solidFill>
                <a:latin typeface="Times New Roman"/>
                <a:cs typeface="Times New Roman"/>
              </a:rPr>
              <a:t>→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80" dirty="0">
                <a:solidFill>
                  <a:srgbClr val="D3C8C4"/>
                </a:solidFill>
                <a:latin typeface="Times New Roman"/>
                <a:cs typeface="Times New Roman"/>
              </a:rPr>
              <a:t>Alert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05" dirty="0">
                <a:solidFill>
                  <a:srgbClr val="D3C8C4"/>
                </a:solidFill>
                <a:latin typeface="Times New Roman"/>
                <a:cs typeface="Times New Roman"/>
              </a:rPr>
              <a:t>Correlation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2025" baseline="10288" dirty="0">
                <a:solidFill>
                  <a:srgbClr val="D3C8C4"/>
                </a:solidFill>
                <a:latin typeface="Arial"/>
                <a:cs typeface="Arial"/>
              </a:rPr>
              <a:t>→</a:t>
            </a:r>
            <a:r>
              <a:rPr sz="2025" spc="-22" baseline="10288" dirty="0">
                <a:solidFill>
                  <a:srgbClr val="D3C8C4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D3C8C4"/>
                </a:solidFill>
                <a:latin typeface="Times New Roman"/>
                <a:cs typeface="Times New Roman"/>
              </a:rPr>
              <a:t>Kill </a:t>
            </a:r>
            <a:r>
              <a:rPr sz="1350" spc="100" dirty="0">
                <a:solidFill>
                  <a:srgbClr val="D3C8C4"/>
                </a:solidFill>
                <a:latin typeface="Times New Roman"/>
                <a:cs typeface="Times New Roman"/>
              </a:rPr>
              <a:t>Chain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D3C8C4"/>
                </a:solidFill>
                <a:latin typeface="Times New Roman"/>
                <a:cs typeface="Times New Roman"/>
              </a:rPr>
              <a:t>→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80" dirty="0">
                <a:solidFill>
                  <a:srgbClr val="D3C8C4"/>
                </a:solidFill>
                <a:latin typeface="Times New Roman"/>
                <a:cs typeface="Times New Roman"/>
              </a:rPr>
              <a:t>Attack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25" dirty="0">
                <a:solidFill>
                  <a:srgbClr val="D3C8C4"/>
                </a:solidFill>
                <a:latin typeface="Times New Roman"/>
                <a:cs typeface="Times New Roman"/>
              </a:rPr>
              <a:t>Graph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D3C8C4"/>
                </a:solidFill>
                <a:latin typeface="Times New Roman"/>
                <a:cs typeface="Times New Roman"/>
              </a:rPr>
              <a:t>→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95" dirty="0">
                <a:solidFill>
                  <a:srgbClr val="D3C8C4"/>
                </a:solidFill>
                <a:latin typeface="Times New Roman"/>
                <a:cs typeface="Times New Roman"/>
              </a:rPr>
              <a:t>Security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70" dirty="0">
                <a:solidFill>
                  <a:srgbClr val="D3C8C4"/>
                </a:solidFill>
                <a:latin typeface="Times New Roman"/>
                <a:cs typeface="Times New Roman"/>
              </a:rPr>
              <a:t>Analysis</a:t>
            </a:r>
            <a:endParaRPr sz="1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7315200"/>
          </a:xfrm>
          <a:custGeom>
            <a:avLst/>
            <a:gdLst/>
            <a:ahLst/>
            <a:cxnLst/>
            <a:rect l="l" t="t" r="r" b="b"/>
            <a:pathLst>
              <a:path w="11430000" h="7315200">
                <a:moveTo>
                  <a:pt x="11429999" y="7315199"/>
                </a:moveTo>
                <a:lnTo>
                  <a:pt x="0" y="73151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7315199"/>
                </a:lnTo>
                <a:close/>
              </a:path>
            </a:pathLst>
          </a:custGeom>
          <a:solidFill>
            <a:srgbClr val="4032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85" dirty="0"/>
              <a:t>Literature</a:t>
            </a:r>
            <a:r>
              <a:rPr spc="175" dirty="0"/>
              <a:t> </a:t>
            </a:r>
            <a:r>
              <a:rPr spc="200" dirty="0"/>
              <a:t>Survey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6571" y="1289046"/>
            <a:ext cx="10353673" cy="561022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68502" y="1490145"/>
            <a:ext cx="162941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70" dirty="0">
                <a:solidFill>
                  <a:srgbClr val="D3C8C4"/>
                </a:solidFill>
                <a:latin typeface="Cambria"/>
                <a:cs typeface="Cambria"/>
              </a:rPr>
              <a:t>Existing</a:t>
            </a:r>
            <a:r>
              <a:rPr sz="1350" b="1" spc="85" dirty="0">
                <a:solidFill>
                  <a:srgbClr val="D3C8C4"/>
                </a:solidFill>
                <a:latin typeface="Cambria"/>
                <a:cs typeface="Cambria"/>
              </a:rPr>
              <a:t> </a:t>
            </a:r>
            <a:r>
              <a:rPr sz="1350" b="1" spc="70" dirty="0">
                <a:solidFill>
                  <a:srgbClr val="D3C8C4"/>
                </a:solidFill>
                <a:latin typeface="Cambria"/>
                <a:cs typeface="Cambria"/>
              </a:rPr>
              <a:t>Approach</a:t>
            </a:r>
            <a:endParaRPr sz="135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36438" y="1490145"/>
            <a:ext cx="89154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85" dirty="0">
                <a:solidFill>
                  <a:srgbClr val="D3C8C4"/>
                </a:solidFill>
                <a:latin typeface="Cambria"/>
                <a:cs typeface="Cambria"/>
              </a:rPr>
              <a:t>Main</a:t>
            </a:r>
            <a:r>
              <a:rPr sz="1350" b="1" spc="50" dirty="0">
                <a:solidFill>
                  <a:srgbClr val="D3C8C4"/>
                </a:solidFill>
                <a:latin typeface="Cambria"/>
                <a:cs typeface="Cambria"/>
              </a:rPr>
              <a:t> </a:t>
            </a:r>
            <a:r>
              <a:rPr sz="1350" b="1" spc="45" dirty="0">
                <a:solidFill>
                  <a:srgbClr val="D3C8C4"/>
                </a:solidFill>
                <a:latin typeface="Cambria"/>
                <a:cs typeface="Cambria"/>
              </a:rPr>
              <a:t>Idea</a:t>
            </a:r>
            <a:endParaRPr sz="135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389137" y="1490145"/>
            <a:ext cx="94869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65" dirty="0">
                <a:solidFill>
                  <a:srgbClr val="D3C8C4"/>
                </a:solidFill>
                <a:latin typeface="Cambria"/>
                <a:cs typeface="Cambria"/>
              </a:rPr>
              <a:t>Limitation</a:t>
            </a:r>
            <a:endParaRPr sz="1350">
              <a:latin typeface="Cambria"/>
              <a:cs typeface="Cambr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941837" y="1490145"/>
            <a:ext cx="912494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60" dirty="0">
                <a:solidFill>
                  <a:srgbClr val="D3C8C4"/>
                </a:solidFill>
                <a:latin typeface="Cambria"/>
                <a:cs typeface="Cambria"/>
              </a:rPr>
              <a:t>Relevance</a:t>
            </a:r>
            <a:endParaRPr sz="135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8502" y="1994969"/>
            <a:ext cx="212661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95" dirty="0">
                <a:solidFill>
                  <a:srgbClr val="D3C8C4"/>
                </a:solidFill>
                <a:latin typeface="Times New Roman"/>
                <a:cs typeface="Times New Roman"/>
              </a:rPr>
              <a:t>Security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60" dirty="0">
                <a:solidFill>
                  <a:srgbClr val="D3C8C4"/>
                </a:solidFill>
                <a:latin typeface="Times New Roman"/>
                <a:cs typeface="Times New Roman"/>
              </a:rPr>
              <a:t>log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05" dirty="0">
                <a:solidFill>
                  <a:srgbClr val="D3C8C4"/>
                </a:solidFill>
                <a:latin typeface="Times New Roman"/>
                <a:cs typeface="Times New Roman"/>
              </a:rPr>
              <a:t>analysis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70" dirty="0">
                <a:solidFill>
                  <a:srgbClr val="D3C8C4"/>
                </a:solidFill>
                <a:latin typeface="Times New Roman"/>
                <a:cs typeface="Times New Roman"/>
              </a:rPr>
              <a:t>tools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36438" y="1939686"/>
            <a:ext cx="215836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9600"/>
              </a:lnSpc>
              <a:spcBef>
                <a:spcPts val="100"/>
              </a:spcBef>
            </a:pPr>
            <a:r>
              <a:rPr sz="1350" spc="120" dirty="0">
                <a:solidFill>
                  <a:srgbClr val="D3C8C4"/>
                </a:solidFill>
                <a:latin typeface="Times New Roman"/>
                <a:cs typeface="Times New Roman"/>
              </a:rPr>
              <a:t>Parse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65" dirty="0">
                <a:solidFill>
                  <a:srgbClr val="D3C8C4"/>
                </a:solidFill>
                <a:latin typeface="Times New Roman"/>
                <a:cs typeface="Times New Roman"/>
              </a:rPr>
              <a:t>and</a:t>
            </a:r>
            <a:r>
              <a:rPr sz="1350" spc="3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40" dirty="0">
                <a:solidFill>
                  <a:srgbClr val="D3C8C4"/>
                </a:solidFill>
                <a:latin typeface="Times New Roman"/>
                <a:cs typeface="Times New Roman"/>
              </a:rPr>
              <a:t>summarise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50" dirty="0">
                <a:solidFill>
                  <a:srgbClr val="D3C8C4"/>
                </a:solidFill>
                <a:latin typeface="Times New Roman"/>
                <a:cs typeface="Times New Roman"/>
              </a:rPr>
              <a:t>raw </a:t>
            </a:r>
            <a:r>
              <a:rPr sz="1350" spc="45" dirty="0">
                <a:solidFill>
                  <a:srgbClr val="D3C8C4"/>
                </a:solidFill>
                <a:latin typeface="Times New Roman"/>
                <a:cs typeface="Times New Roman"/>
              </a:rPr>
              <a:t>logs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89137" y="1939686"/>
            <a:ext cx="187706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9600"/>
              </a:lnSpc>
              <a:spcBef>
                <a:spcPts val="100"/>
              </a:spcBef>
            </a:pPr>
            <a:r>
              <a:rPr sz="1350" spc="70" dirty="0">
                <a:solidFill>
                  <a:srgbClr val="D3C8C4"/>
                </a:solidFill>
                <a:latin typeface="Times New Roman"/>
                <a:cs typeface="Times New Roman"/>
              </a:rPr>
              <a:t>Scale</a:t>
            </a:r>
            <a:r>
              <a:rPr sz="1350" spc="1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65" dirty="0">
                <a:solidFill>
                  <a:srgbClr val="D3C8C4"/>
                </a:solidFill>
                <a:latin typeface="Times New Roman"/>
                <a:cs typeface="Times New Roman"/>
              </a:rPr>
              <a:t>and</a:t>
            </a:r>
            <a:r>
              <a:rPr sz="1350" spc="1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00" dirty="0">
                <a:solidFill>
                  <a:srgbClr val="D3C8C4"/>
                </a:solidFill>
                <a:latin typeface="Times New Roman"/>
                <a:cs typeface="Times New Roman"/>
              </a:rPr>
              <a:t>contextual </a:t>
            </a:r>
            <a:r>
              <a:rPr sz="1350" spc="114" dirty="0">
                <a:solidFill>
                  <a:srgbClr val="D3C8C4"/>
                </a:solidFill>
                <a:latin typeface="Times New Roman"/>
                <a:cs typeface="Times New Roman"/>
              </a:rPr>
              <a:t>correlation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50" dirty="0">
                <a:solidFill>
                  <a:srgbClr val="D3C8C4"/>
                </a:solidFill>
                <a:latin typeface="Times New Roman"/>
                <a:cs typeface="Times New Roman"/>
              </a:rPr>
              <a:t>are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90" dirty="0">
                <a:solidFill>
                  <a:srgbClr val="D3C8C4"/>
                </a:solidFill>
                <a:latin typeface="Times New Roman"/>
                <a:cs typeface="Times New Roman"/>
              </a:rPr>
              <a:t>limited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941837" y="1939686"/>
            <a:ext cx="154813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9600"/>
              </a:lnSpc>
              <a:spcBef>
                <a:spcPts val="100"/>
              </a:spcBef>
            </a:pPr>
            <a:r>
              <a:rPr sz="1350" spc="70" dirty="0">
                <a:solidFill>
                  <a:srgbClr val="D3C8C4"/>
                </a:solidFill>
                <a:latin typeface="Times New Roman"/>
                <a:cs typeface="Times New Roman"/>
              </a:rPr>
              <a:t>Basis</a:t>
            </a:r>
            <a:r>
              <a:rPr sz="1350" spc="1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10" dirty="0">
                <a:solidFill>
                  <a:srgbClr val="D3C8C4"/>
                </a:solidFill>
                <a:latin typeface="Times New Roman"/>
                <a:cs typeface="Times New Roman"/>
              </a:rPr>
              <a:t>for</a:t>
            </a:r>
            <a:r>
              <a:rPr sz="1350" spc="1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10" dirty="0">
                <a:solidFill>
                  <a:srgbClr val="D3C8C4"/>
                </a:solidFill>
                <a:latin typeface="Times New Roman"/>
                <a:cs typeface="Times New Roman"/>
              </a:rPr>
              <a:t>parsing </a:t>
            </a:r>
            <a:r>
              <a:rPr sz="1350" spc="165" dirty="0">
                <a:solidFill>
                  <a:srgbClr val="D3C8C4"/>
                </a:solidFill>
                <a:latin typeface="Times New Roman"/>
                <a:cs typeface="Times New Roman"/>
              </a:rPr>
              <a:t>and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14" dirty="0">
                <a:solidFill>
                  <a:srgbClr val="D3C8C4"/>
                </a:solidFill>
                <a:latin typeface="Times New Roman"/>
                <a:cs typeface="Times New Roman"/>
              </a:rPr>
              <a:t>normalization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8502" y="2706497"/>
            <a:ext cx="231648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9600"/>
              </a:lnSpc>
              <a:spcBef>
                <a:spcPts val="100"/>
              </a:spcBef>
            </a:pPr>
            <a:r>
              <a:rPr sz="1350" spc="120" dirty="0">
                <a:solidFill>
                  <a:srgbClr val="D3C8C4"/>
                </a:solidFill>
                <a:latin typeface="Times New Roman"/>
                <a:cs typeface="Times New Roman"/>
              </a:rPr>
              <a:t>Intrusion</a:t>
            </a:r>
            <a:r>
              <a:rPr sz="1350" spc="4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90" dirty="0">
                <a:solidFill>
                  <a:srgbClr val="D3C8C4"/>
                </a:solidFill>
                <a:latin typeface="Times New Roman"/>
                <a:cs typeface="Times New Roman"/>
              </a:rPr>
              <a:t>Detection</a:t>
            </a:r>
            <a:r>
              <a:rPr sz="1350" spc="4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85" dirty="0">
                <a:solidFill>
                  <a:srgbClr val="D3C8C4"/>
                </a:solidFill>
                <a:latin typeface="Times New Roman"/>
                <a:cs typeface="Times New Roman"/>
              </a:rPr>
              <a:t>Systems </a:t>
            </a:r>
            <a:r>
              <a:rPr sz="1350" spc="-10" dirty="0">
                <a:solidFill>
                  <a:srgbClr val="D3C8C4"/>
                </a:solidFill>
                <a:latin typeface="Times New Roman"/>
                <a:cs typeface="Times New Roman"/>
              </a:rPr>
              <a:t>(IDS)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36438" y="2709668"/>
            <a:ext cx="1826260" cy="825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9600"/>
              </a:lnSpc>
              <a:spcBef>
                <a:spcPts val="100"/>
              </a:spcBef>
            </a:pPr>
            <a:r>
              <a:rPr sz="1350" spc="114" dirty="0">
                <a:solidFill>
                  <a:srgbClr val="D3C8C4"/>
                </a:solidFill>
                <a:latin typeface="Times New Roman"/>
                <a:cs typeface="Times New Roman"/>
              </a:rPr>
              <a:t>Signature</a:t>
            </a:r>
            <a:r>
              <a:rPr sz="1350" spc="1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D3C8C4"/>
                </a:solidFill>
                <a:latin typeface="Times New Roman"/>
                <a:cs typeface="Times New Roman"/>
              </a:rPr>
              <a:t>/</a:t>
            </a:r>
            <a:r>
              <a:rPr sz="1350" spc="1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25" dirty="0">
                <a:solidFill>
                  <a:srgbClr val="D3C8C4"/>
                </a:solidFill>
                <a:latin typeface="Times New Roman"/>
                <a:cs typeface="Times New Roman"/>
              </a:rPr>
              <a:t>anomaly </a:t>
            </a:r>
            <a:r>
              <a:rPr sz="1350" spc="110" dirty="0">
                <a:solidFill>
                  <a:srgbClr val="D3C8C4"/>
                </a:solidFill>
                <a:latin typeface="Times New Roman"/>
                <a:cs typeface="Times New Roman"/>
              </a:rPr>
              <a:t>detection</a:t>
            </a:r>
            <a:r>
              <a:rPr sz="1350" spc="1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70" dirty="0">
                <a:solidFill>
                  <a:srgbClr val="D3C8C4"/>
                </a:solidFill>
                <a:latin typeface="Times New Roman"/>
                <a:cs typeface="Times New Roman"/>
              </a:rPr>
              <a:t>of</a:t>
            </a:r>
            <a:r>
              <a:rPr sz="1350" spc="1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95" dirty="0">
                <a:solidFill>
                  <a:srgbClr val="D3C8C4"/>
                </a:solidFill>
                <a:latin typeface="Times New Roman"/>
                <a:cs typeface="Times New Roman"/>
              </a:rPr>
              <a:t>malicious </a:t>
            </a:r>
            <a:r>
              <a:rPr sz="1350" spc="80" dirty="0">
                <a:solidFill>
                  <a:srgbClr val="D3C8C4"/>
                </a:solidFill>
                <a:latin typeface="Times New Roman"/>
                <a:cs typeface="Times New Roman"/>
              </a:rPr>
              <a:t>activity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389137" y="2706497"/>
            <a:ext cx="191770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9600"/>
              </a:lnSpc>
              <a:spcBef>
                <a:spcPts val="100"/>
              </a:spcBef>
            </a:pPr>
            <a:r>
              <a:rPr sz="1350" spc="125" dirty="0">
                <a:solidFill>
                  <a:srgbClr val="D3C8C4"/>
                </a:solidFill>
                <a:latin typeface="Times New Roman"/>
                <a:cs typeface="Times New Roman"/>
              </a:rPr>
              <a:t>Many</a:t>
            </a:r>
            <a:r>
              <a:rPr sz="1350" spc="1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85" dirty="0">
                <a:solidFill>
                  <a:srgbClr val="D3C8C4"/>
                </a:solidFill>
                <a:latin typeface="Times New Roman"/>
                <a:cs typeface="Times New Roman"/>
              </a:rPr>
              <a:t>false</a:t>
            </a:r>
            <a:r>
              <a:rPr sz="1350" spc="1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75" dirty="0">
                <a:solidFill>
                  <a:srgbClr val="D3C8C4"/>
                </a:solidFill>
                <a:latin typeface="Times New Roman"/>
                <a:cs typeface="Times New Roman"/>
              </a:rPr>
              <a:t>positives; </a:t>
            </a:r>
            <a:r>
              <a:rPr sz="1350" spc="100" dirty="0">
                <a:solidFill>
                  <a:srgbClr val="D3C8C4"/>
                </a:solidFill>
                <a:latin typeface="Times New Roman"/>
                <a:cs typeface="Times New Roman"/>
              </a:rPr>
              <a:t>limited</a:t>
            </a:r>
            <a:r>
              <a:rPr sz="1350" spc="4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95" dirty="0">
                <a:solidFill>
                  <a:srgbClr val="D3C8C4"/>
                </a:solidFill>
                <a:latin typeface="Times New Roman"/>
                <a:cs typeface="Times New Roman"/>
              </a:rPr>
              <a:t>multi-step</a:t>
            </a:r>
            <a:r>
              <a:rPr sz="1350" spc="4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95" dirty="0">
                <a:solidFill>
                  <a:srgbClr val="D3C8C4"/>
                </a:solidFill>
                <a:latin typeface="Times New Roman"/>
                <a:cs typeface="Times New Roman"/>
              </a:rPr>
              <a:t>view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941837" y="2706497"/>
            <a:ext cx="1689735" cy="55880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1350" spc="120" dirty="0">
                <a:solidFill>
                  <a:srgbClr val="D3C8C4"/>
                </a:solidFill>
                <a:latin typeface="Times New Roman"/>
                <a:cs typeface="Times New Roman"/>
              </a:rPr>
              <a:t>Informs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00" dirty="0">
                <a:solidFill>
                  <a:srgbClr val="D3C8C4"/>
                </a:solidFill>
                <a:latin typeface="Times New Roman"/>
                <a:cs typeface="Times New Roman"/>
              </a:rPr>
              <a:t>detection</a:t>
            </a: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350" spc="120" dirty="0">
                <a:solidFill>
                  <a:srgbClr val="D3C8C4"/>
                </a:solidFill>
                <a:latin typeface="Times New Roman"/>
                <a:cs typeface="Times New Roman"/>
              </a:rPr>
              <a:t>rules</a:t>
            </a:r>
            <a:r>
              <a:rPr sz="1350" spc="1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65" dirty="0">
                <a:solidFill>
                  <a:srgbClr val="D3C8C4"/>
                </a:solidFill>
                <a:latin typeface="Times New Roman"/>
                <a:cs typeface="Times New Roman"/>
              </a:rPr>
              <a:t>and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10" dirty="0">
                <a:solidFill>
                  <a:srgbClr val="D3C8C4"/>
                </a:solidFill>
                <a:latin typeface="Times New Roman"/>
                <a:cs typeface="Times New Roman"/>
              </a:rPr>
              <a:t>signatures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8502" y="3814245"/>
            <a:ext cx="197294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D3C8C4"/>
                </a:solidFill>
                <a:latin typeface="Times New Roman"/>
                <a:cs typeface="Times New Roman"/>
              </a:rPr>
              <a:t>SIEM</a:t>
            </a:r>
            <a:r>
              <a:rPr sz="1350" spc="3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D3C8C4"/>
                </a:solidFill>
                <a:latin typeface="Times New Roman"/>
                <a:cs typeface="Times New Roman"/>
              </a:rPr>
              <a:t>+</a:t>
            </a:r>
            <a:r>
              <a:rPr sz="1350" spc="3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20" dirty="0">
                <a:solidFill>
                  <a:srgbClr val="D3C8C4"/>
                </a:solidFill>
                <a:latin typeface="Times New Roman"/>
                <a:cs typeface="Times New Roman"/>
              </a:rPr>
              <a:t>alert</a:t>
            </a:r>
            <a:r>
              <a:rPr sz="1350" spc="4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05" dirty="0">
                <a:solidFill>
                  <a:srgbClr val="D3C8C4"/>
                </a:solidFill>
                <a:latin typeface="Times New Roman"/>
                <a:cs typeface="Times New Roman"/>
              </a:rPr>
              <a:t>correlation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36438" y="3754247"/>
            <a:ext cx="170561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9600"/>
              </a:lnSpc>
              <a:spcBef>
                <a:spcPts val="100"/>
              </a:spcBef>
            </a:pPr>
            <a:r>
              <a:rPr sz="1350" spc="85" dirty="0">
                <a:solidFill>
                  <a:srgbClr val="D3C8C4"/>
                </a:solidFill>
                <a:latin typeface="Times New Roman"/>
                <a:cs typeface="Times New Roman"/>
              </a:rPr>
              <a:t>Aggregate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10" dirty="0">
                <a:solidFill>
                  <a:srgbClr val="D3C8C4"/>
                </a:solidFill>
                <a:latin typeface="Times New Roman"/>
                <a:cs typeface="Times New Roman"/>
              </a:rPr>
              <a:t>alerts</a:t>
            </a:r>
            <a:r>
              <a:rPr sz="1350" spc="3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40" dirty="0">
                <a:solidFill>
                  <a:srgbClr val="D3C8C4"/>
                </a:solidFill>
                <a:latin typeface="Times New Roman"/>
                <a:cs typeface="Times New Roman"/>
              </a:rPr>
              <a:t>and </a:t>
            </a:r>
            <a:r>
              <a:rPr sz="1350" spc="120" dirty="0">
                <a:solidFill>
                  <a:srgbClr val="D3C8C4"/>
                </a:solidFill>
                <a:latin typeface="Times New Roman"/>
                <a:cs typeface="Times New Roman"/>
              </a:rPr>
              <a:t>correlate</a:t>
            </a:r>
            <a:r>
              <a:rPr sz="1350" spc="1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10" dirty="0">
                <a:solidFill>
                  <a:srgbClr val="D3C8C4"/>
                </a:solidFill>
                <a:latin typeface="Times New Roman"/>
                <a:cs typeface="Times New Roman"/>
              </a:rPr>
              <a:t>events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389137" y="3754247"/>
            <a:ext cx="195008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9600"/>
              </a:lnSpc>
              <a:spcBef>
                <a:spcPts val="100"/>
              </a:spcBef>
            </a:pPr>
            <a:r>
              <a:rPr sz="1350" spc="90" dirty="0">
                <a:solidFill>
                  <a:srgbClr val="D3C8C4"/>
                </a:solidFill>
                <a:latin typeface="Times New Roman"/>
                <a:cs typeface="Times New Roman"/>
              </a:rPr>
              <a:t>Complex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90" dirty="0">
                <a:solidFill>
                  <a:srgbClr val="D3C8C4"/>
                </a:solidFill>
                <a:latin typeface="Times New Roman"/>
                <a:cs typeface="Times New Roman"/>
              </a:rPr>
              <a:t>configuration; </a:t>
            </a:r>
            <a:r>
              <a:rPr sz="1350" spc="100" dirty="0">
                <a:solidFill>
                  <a:srgbClr val="D3C8C4"/>
                </a:solidFill>
                <a:latin typeface="Times New Roman"/>
                <a:cs typeface="Times New Roman"/>
              </a:rPr>
              <a:t>expensive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941837" y="3757419"/>
            <a:ext cx="1184910" cy="825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9600"/>
              </a:lnSpc>
              <a:spcBef>
                <a:spcPts val="100"/>
              </a:spcBef>
            </a:pPr>
            <a:r>
              <a:rPr sz="1350" spc="110" dirty="0">
                <a:solidFill>
                  <a:srgbClr val="D3C8C4"/>
                </a:solidFill>
                <a:latin typeface="Times New Roman"/>
                <a:cs typeface="Times New Roman"/>
              </a:rPr>
              <a:t>Inspires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05" dirty="0">
                <a:solidFill>
                  <a:srgbClr val="D3C8C4"/>
                </a:solidFill>
                <a:latin typeface="Times New Roman"/>
                <a:cs typeface="Times New Roman"/>
              </a:rPr>
              <a:t>event correlation </a:t>
            </a:r>
            <a:r>
              <a:rPr sz="1350" spc="130" dirty="0">
                <a:solidFill>
                  <a:srgbClr val="D3C8C4"/>
                </a:solidFill>
                <a:latin typeface="Times New Roman"/>
                <a:cs typeface="Times New Roman"/>
              </a:rPr>
              <a:t>component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8502" y="4861994"/>
            <a:ext cx="152273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65" dirty="0">
                <a:solidFill>
                  <a:srgbClr val="D3C8C4"/>
                </a:solidFill>
                <a:latin typeface="Times New Roman"/>
                <a:cs typeface="Times New Roman"/>
              </a:rPr>
              <a:t>Kill-</a:t>
            </a:r>
            <a:r>
              <a:rPr sz="1350" spc="75" dirty="0">
                <a:solidFill>
                  <a:srgbClr val="D3C8C4"/>
                </a:solidFill>
                <a:latin typeface="Times New Roman"/>
                <a:cs typeface="Times New Roman"/>
              </a:rPr>
              <a:t>chain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95" dirty="0">
                <a:solidFill>
                  <a:srgbClr val="D3C8C4"/>
                </a:solidFill>
                <a:latin typeface="Times New Roman"/>
                <a:cs typeface="Times New Roman"/>
              </a:rPr>
              <a:t>analysis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836438" y="4801996"/>
            <a:ext cx="2094864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9600"/>
              </a:lnSpc>
              <a:spcBef>
                <a:spcPts val="100"/>
              </a:spcBef>
            </a:pPr>
            <a:r>
              <a:rPr sz="1350" spc="90" dirty="0">
                <a:solidFill>
                  <a:srgbClr val="D3C8C4"/>
                </a:solidFill>
                <a:latin typeface="Times New Roman"/>
                <a:cs typeface="Times New Roman"/>
              </a:rPr>
              <a:t>Model</a:t>
            </a:r>
            <a:r>
              <a:rPr sz="1350" spc="1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10" dirty="0">
                <a:solidFill>
                  <a:srgbClr val="D3C8C4"/>
                </a:solidFill>
                <a:latin typeface="Times New Roman"/>
                <a:cs typeface="Times New Roman"/>
              </a:rPr>
              <a:t>attacker </a:t>
            </a:r>
            <a:r>
              <a:rPr sz="1350" spc="120" dirty="0">
                <a:solidFill>
                  <a:srgbClr val="D3C8C4"/>
                </a:solidFill>
                <a:latin typeface="Times New Roman"/>
                <a:cs typeface="Times New Roman"/>
              </a:rPr>
              <a:t>progression</a:t>
            </a:r>
            <a:r>
              <a:rPr sz="1350" spc="1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10" dirty="0">
                <a:solidFill>
                  <a:srgbClr val="D3C8C4"/>
                </a:solidFill>
                <a:latin typeface="Times New Roman"/>
                <a:cs typeface="Times New Roman"/>
              </a:rPr>
              <a:t>across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85" dirty="0">
                <a:solidFill>
                  <a:srgbClr val="D3C8C4"/>
                </a:solidFill>
                <a:latin typeface="Times New Roman"/>
                <a:cs typeface="Times New Roman"/>
              </a:rPr>
              <a:t>stages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389137" y="4805168"/>
            <a:ext cx="2221230" cy="825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9600"/>
              </a:lnSpc>
              <a:spcBef>
                <a:spcPts val="100"/>
              </a:spcBef>
            </a:pPr>
            <a:r>
              <a:rPr sz="1350" spc="95" dirty="0">
                <a:solidFill>
                  <a:srgbClr val="D3C8C4"/>
                </a:solidFill>
                <a:latin typeface="Times New Roman"/>
                <a:cs typeface="Times New Roman"/>
              </a:rPr>
              <a:t>Often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85" dirty="0">
                <a:solidFill>
                  <a:srgbClr val="D3C8C4"/>
                </a:solidFill>
                <a:latin typeface="Times New Roman"/>
                <a:cs typeface="Times New Roman"/>
              </a:rPr>
              <a:t>high-</a:t>
            </a:r>
            <a:r>
              <a:rPr sz="1350" spc="65" dirty="0">
                <a:solidFill>
                  <a:srgbClr val="D3C8C4"/>
                </a:solidFill>
                <a:latin typeface="Times New Roman"/>
                <a:cs typeface="Times New Roman"/>
              </a:rPr>
              <a:t>level; </a:t>
            </a:r>
            <a:r>
              <a:rPr sz="1350" spc="120" dirty="0">
                <a:solidFill>
                  <a:srgbClr val="D3C8C4"/>
                </a:solidFill>
                <a:latin typeface="Times New Roman"/>
                <a:cs typeface="Times New Roman"/>
              </a:rPr>
              <a:t>reconstruction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35" dirty="0">
                <a:solidFill>
                  <a:srgbClr val="D3C8C4"/>
                </a:solidFill>
                <a:latin typeface="Times New Roman"/>
                <a:cs typeface="Times New Roman"/>
              </a:rPr>
              <a:t>from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65" dirty="0">
                <a:solidFill>
                  <a:srgbClr val="D3C8C4"/>
                </a:solidFill>
                <a:latin typeface="Times New Roman"/>
                <a:cs typeface="Times New Roman"/>
              </a:rPr>
              <a:t>logs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40" dirty="0">
                <a:solidFill>
                  <a:srgbClr val="D3C8C4"/>
                </a:solidFill>
                <a:latin typeface="Times New Roman"/>
                <a:cs typeface="Times New Roman"/>
              </a:rPr>
              <a:t>is </a:t>
            </a:r>
            <a:r>
              <a:rPr sz="1350" spc="145" dirty="0">
                <a:solidFill>
                  <a:srgbClr val="D3C8C4"/>
                </a:solidFill>
                <a:latin typeface="Times New Roman"/>
                <a:cs typeface="Times New Roman"/>
              </a:rPr>
              <a:t>hard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941837" y="4805168"/>
            <a:ext cx="1273175" cy="825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9600"/>
              </a:lnSpc>
              <a:spcBef>
                <a:spcPts val="100"/>
              </a:spcBef>
            </a:pPr>
            <a:r>
              <a:rPr sz="1350" spc="145" dirty="0">
                <a:solidFill>
                  <a:srgbClr val="D3C8C4"/>
                </a:solidFill>
                <a:latin typeface="Times New Roman"/>
                <a:cs typeface="Times New Roman"/>
              </a:rPr>
              <a:t>Framework</a:t>
            </a:r>
            <a:r>
              <a:rPr sz="1350" spc="1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85" dirty="0">
                <a:solidFill>
                  <a:srgbClr val="D3C8C4"/>
                </a:solidFill>
                <a:latin typeface="Times New Roman"/>
                <a:cs typeface="Times New Roman"/>
              </a:rPr>
              <a:t>for </a:t>
            </a:r>
            <a:r>
              <a:rPr sz="1350" spc="140" dirty="0">
                <a:solidFill>
                  <a:srgbClr val="D3C8C4"/>
                </a:solidFill>
                <a:latin typeface="Times New Roman"/>
                <a:cs typeface="Times New Roman"/>
              </a:rPr>
              <a:t>ordered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00" dirty="0">
                <a:solidFill>
                  <a:srgbClr val="D3C8C4"/>
                </a:solidFill>
                <a:latin typeface="Times New Roman"/>
                <a:cs typeface="Times New Roman"/>
              </a:rPr>
              <a:t>attack </a:t>
            </a:r>
            <a:r>
              <a:rPr sz="1350" spc="110" dirty="0">
                <a:solidFill>
                  <a:srgbClr val="D3C8C4"/>
                </a:solidFill>
                <a:latin typeface="Times New Roman"/>
                <a:cs typeface="Times New Roman"/>
              </a:rPr>
              <a:t>reconstruction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8502" y="5909744"/>
            <a:ext cx="177673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120" dirty="0">
                <a:solidFill>
                  <a:srgbClr val="D3C8C4"/>
                </a:solidFill>
                <a:latin typeface="Times New Roman"/>
                <a:cs typeface="Times New Roman"/>
              </a:rPr>
              <a:t>Graph-</a:t>
            </a:r>
            <a:r>
              <a:rPr sz="1350" spc="114" dirty="0">
                <a:solidFill>
                  <a:srgbClr val="D3C8C4"/>
                </a:solidFill>
                <a:latin typeface="Times New Roman"/>
                <a:cs typeface="Times New Roman"/>
              </a:rPr>
              <a:t>based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95" dirty="0">
                <a:solidFill>
                  <a:srgbClr val="D3C8C4"/>
                </a:solidFill>
                <a:latin typeface="Times New Roman"/>
                <a:cs typeface="Times New Roman"/>
              </a:rPr>
              <a:t>analysis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36438" y="5854462"/>
            <a:ext cx="189230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9600"/>
              </a:lnSpc>
              <a:spcBef>
                <a:spcPts val="100"/>
              </a:spcBef>
            </a:pPr>
            <a:r>
              <a:rPr sz="1350" spc="110" dirty="0">
                <a:solidFill>
                  <a:srgbClr val="D3C8C4"/>
                </a:solidFill>
                <a:latin typeface="Times New Roman"/>
                <a:cs typeface="Times New Roman"/>
              </a:rPr>
              <a:t>Represent</a:t>
            </a:r>
            <a:r>
              <a:rPr sz="1350" spc="4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05" dirty="0">
                <a:solidFill>
                  <a:srgbClr val="D3C8C4"/>
                </a:solidFill>
                <a:latin typeface="Times New Roman"/>
                <a:cs typeface="Times New Roman"/>
              </a:rPr>
              <a:t>systems</a:t>
            </a:r>
            <a:r>
              <a:rPr sz="1350" spc="4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40" dirty="0">
                <a:solidFill>
                  <a:srgbClr val="D3C8C4"/>
                </a:solidFill>
                <a:latin typeface="Times New Roman"/>
                <a:cs typeface="Times New Roman"/>
              </a:rPr>
              <a:t>and </a:t>
            </a:r>
            <a:r>
              <a:rPr sz="1350" spc="130" dirty="0">
                <a:solidFill>
                  <a:srgbClr val="D3C8C4"/>
                </a:solidFill>
                <a:latin typeface="Times New Roman"/>
                <a:cs typeface="Times New Roman"/>
              </a:rPr>
              <a:t>paths</a:t>
            </a:r>
            <a:r>
              <a:rPr sz="1350" spc="1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14" dirty="0">
                <a:solidFill>
                  <a:srgbClr val="D3C8C4"/>
                </a:solidFill>
                <a:latin typeface="Times New Roman"/>
                <a:cs typeface="Times New Roman"/>
              </a:rPr>
              <a:t>as</a:t>
            </a:r>
            <a:r>
              <a:rPr sz="1350" spc="1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95" dirty="0">
                <a:solidFill>
                  <a:srgbClr val="D3C8C4"/>
                </a:solidFill>
                <a:latin typeface="Times New Roman"/>
                <a:cs typeface="Times New Roman"/>
              </a:rPr>
              <a:t>nodes/edges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389137" y="5854462"/>
            <a:ext cx="202311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9600"/>
              </a:lnSpc>
              <a:spcBef>
                <a:spcPts val="100"/>
              </a:spcBef>
            </a:pPr>
            <a:r>
              <a:rPr sz="1350" spc="100" dirty="0">
                <a:solidFill>
                  <a:srgbClr val="D3C8C4"/>
                </a:solidFill>
                <a:latin typeface="Times New Roman"/>
                <a:cs typeface="Times New Roman"/>
              </a:rPr>
              <a:t>Needs</a:t>
            </a:r>
            <a:r>
              <a:rPr sz="1350" spc="1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90" dirty="0">
                <a:solidFill>
                  <a:srgbClr val="D3C8C4"/>
                </a:solidFill>
                <a:latin typeface="Times New Roman"/>
                <a:cs typeface="Times New Roman"/>
              </a:rPr>
              <a:t>efficient</a:t>
            </a:r>
            <a:r>
              <a:rPr sz="1350" spc="1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10" dirty="0">
                <a:solidFill>
                  <a:srgbClr val="D3C8C4"/>
                </a:solidFill>
                <a:latin typeface="Times New Roman"/>
                <a:cs typeface="Times New Roman"/>
              </a:rPr>
              <a:t>traversal for</a:t>
            </a:r>
            <a:r>
              <a:rPr sz="1350" spc="1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05" dirty="0">
                <a:solidFill>
                  <a:srgbClr val="D3C8C4"/>
                </a:solidFill>
                <a:latin typeface="Times New Roman"/>
                <a:cs typeface="Times New Roman"/>
              </a:rPr>
              <a:t>large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20" dirty="0">
                <a:solidFill>
                  <a:srgbClr val="D3C8C4"/>
                </a:solidFill>
                <a:latin typeface="Times New Roman"/>
                <a:cs typeface="Times New Roman"/>
              </a:rPr>
              <a:t>graphs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941837" y="5851289"/>
            <a:ext cx="1694814" cy="825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9600"/>
              </a:lnSpc>
              <a:spcBef>
                <a:spcPts val="100"/>
              </a:spcBef>
            </a:pPr>
            <a:r>
              <a:rPr sz="1350" spc="80" dirty="0">
                <a:solidFill>
                  <a:srgbClr val="D3C8C4"/>
                </a:solidFill>
                <a:latin typeface="Times New Roman"/>
                <a:cs typeface="Times New Roman"/>
              </a:rPr>
              <a:t>Directly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45" dirty="0">
                <a:solidFill>
                  <a:srgbClr val="D3C8C4"/>
                </a:solidFill>
                <a:latin typeface="Times New Roman"/>
                <a:cs typeface="Times New Roman"/>
              </a:rPr>
              <a:t>maps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95" dirty="0">
                <a:solidFill>
                  <a:srgbClr val="D3C8C4"/>
                </a:solidFill>
                <a:latin typeface="Times New Roman"/>
                <a:cs typeface="Times New Roman"/>
              </a:rPr>
              <a:t>to</a:t>
            </a:r>
            <a:r>
              <a:rPr sz="1350" spc="3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30" dirty="0">
                <a:solidFill>
                  <a:srgbClr val="D3C8C4"/>
                </a:solidFill>
                <a:latin typeface="Times New Roman"/>
                <a:cs typeface="Times New Roman"/>
              </a:rPr>
              <a:t>our </a:t>
            </a:r>
            <a:r>
              <a:rPr sz="1350" spc="70" dirty="0">
                <a:solidFill>
                  <a:srgbClr val="D3C8C4"/>
                </a:solidFill>
                <a:latin typeface="Times New Roman"/>
                <a:cs typeface="Times New Roman"/>
              </a:rPr>
              <a:t>DSA-</a:t>
            </a:r>
            <a:r>
              <a:rPr sz="1350" spc="55" dirty="0">
                <a:solidFill>
                  <a:srgbClr val="D3C8C4"/>
                </a:solidFill>
                <a:latin typeface="Times New Roman"/>
                <a:cs typeface="Times New Roman"/>
              </a:rPr>
              <a:t>based</a:t>
            </a:r>
            <a:r>
              <a:rPr sz="1350" spc="1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00" dirty="0">
                <a:solidFill>
                  <a:srgbClr val="D3C8C4"/>
                </a:solidFill>
                <a:latin typeface="Times New Roman"/>
                <a:cs typeface="Times New Roman"/>
              </a:rPr>
              <a:t>attack</a:t>
            </a: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350" spc="130" dirty="0">
                <a:solidFill>
                  <a:srgbClr val="D3C8C4"/>
                </a:solidFill>
                <a:latin typeface="Times New Roman"/>
                <a:cs typeface="Times New Roman"/>
              </a:rPr>
              <a:t>graph</a:t>
            </a:r>
            <a:endParaRPr sz="1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" y="-2"/>
            <a:ext cx="11425555" cy="8159750"/>
          </a:xfrm>
          <a:custGeom>
            <a:avLst/>
            <a:gdLst/>
            <a:ahLst/>
            <a:cxnLst/>
            <a:rect l="l" t="t" r="r" b="b"/>
            <a:pathLst>
              <a:path w="11425555" h="8159750">
                <a:moveTo>
                  <a:pt x="11424984" y="8159343"/>
                </a:moveTo>
                <a:lnTo>
                  <a:pt x="0" y="8159343"/>
                </a:lnTo>
                <a:lnTo>
                  <a:pt x="0" y="0"/>
                </a:lnTo>
                <a:lnTo>
                  <a:pt x="11424984" y="0"/>
                </a:lnTo>
                <a:lnTo>
                  <a:pt x="11424984" y="8159343"/>
                </a:lnTo>
                <a:close/>
              </a:path>
            </a:pathLst>
          </a:custGeom>
          <a:solidFill>
            <a:srgbClr val="4032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587111" y="481968"/>
            <a:ext cx="4672330" cy="144462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170" dirty="0"/>
              <a:t>Problem</a:t>
            </a:r>
            <a:r>
              <a:rPr spc="145" dirty="0"/>
              <a:t> </a:t>
            </a:r>
            <a:r>
              <a:rPr spc="190" dirty="0"/>
              <a:t>Statement</a:t>
            </a:r>
            <a:r>
              <a:rPr spc="150" dirty="0"/>
              <a:t> </a:t>
            </a:r>
            <a:r>
              <a:rPr spc="170" dirty="0"/>
              <a:t>&amp;</a:t>
            </a:r>
          </a:p>
          <a:p>
            <a:pPr marL="12700">
              <a:lnSpc>
                <a:spcPct val="100000"/>
              </a:lnSpc>
              <a:spcBef>
                <a:spcPts val="3105"/>
              </a:spcBef>
            </a:pPr>
            <a:r>
              <a:rPr spc="165" dirty="0"/>
              <a:t>Objectives</a:t>
            </a:r>
          </a:p>
        </p:txBody>
      </p:sp>
      <p:sp>
        <p:nvSpPr>
          <p:cNvPr id="4" name="object 4"/>
          <p:cNvSpPr/>
          <p:nvPr/>
        </p:nvSpPr>
        <p:spPr>
          <a:xfrm>
            <a:off x="628374" y="224691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70" y="57124"/>
                </a:moveTo>
                <a:lnTo>
                  <a:pt x="24754" y="57124"/>
                </a:lnTo>
                <a:lnTo>
                  <a:pt x="21685" y="56490"/>
                </a:lnTo>
                <a:lnTo>
                  <a:pt x="21384" y="56490"/>
                </a:lnTo>
                <a:lnTo>
                  <a:pt x="0" y="32370"/>
                </a:lnTo>
                <a:lnTo>
                  <a:pt x="0" y="24754"/>
                </a:lnTo>
                <a:lnTo>
                  <a:pt x="20903" y="761"/>
                </a:lnTo>
                <a:lnTo>
                  <a:pt x="20489" y="761"/>
                </a:lnTo>
                <a:lnTo>
                  <a:pt x="24754" y="0"/>
                </a:lnTo>
                <a:lnTo>
                  <a:pt x="32370" y="0"/>
                </a:lnTo>
                <a:lnTo>
                  <a:pt x="57124" y="24754"/>
                </a:lnTo>
                <a:lnTo>
                  <a:pt x="57124" y="32370"/>
                </a:lnTo>
                <a:lnTo>
                  <a:pt x="35925" y="56490"/>
                </a:lnTo>
                <a:lnTo>
                  <a:pt x="32370" y="57124"/>
                </a:lnTo>
                <a:close/>
              </a:path>
            </a:pathLst>
          </a:custGeom>
          <a:solidFill>
            <a:srgbClr val="D3C8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8374" y="2580143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70" y="57124"/>
                </a:moveTo>
                <a:lnTo>
                  <a:pt x="24754" y="57124"/>
                </a:lnTo>
                <a:lnTo>
                  <a:pt x="21686" y="56490"/>
                </a:lnTo>
                <a:lnTo>
                  <a:pt x="21384" y="56490"/>
                </a:lnTo>
                <a:lnTo>
                  <a:pt x="0" y="32370"/>
                </a:lnTo>
                <a:lnTo>
                  <a:pt x="0" y="24754"/>
                </a:lnTo>
                <a:lnTo>
                  <a:pt x="20903" y="761"/>
                </a:lnTo>
                <a:lnTo>
                  <a:pt x="20489" y="761"/>
                </a:lnTo>
                <a:lnTo>
                  <a:pt x="24754" y="0"/>
                </a:lnTo>
                <a:lnTo>
                  <a:pt x="32370" y="0"/>
                </a:lnTo>
                <a:lnTo>
                  <a:pt x="57124" y="24754"/>
                </a:lnTo>
                <a:lnTo>
                  <a:pt x="57124" y="32370"/>
                </a:lnTo>
                <a:lnTo>
                  <a:pt x="35925" y="56490"/>
                </a:lnTo>
                <a:lnTo>
                  <a:pt x="32370" y="57124"/>
                </a:lnTo>
                <a:close/>
              </a:path>
            </a:pathLst>
          </a:custGeom>
          <a:solidFill>
            <a:srgbClr val="D3C8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8374" y="2922892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70" y="57124"/>
                </a:moveTo>
                <a:lnTo>
                  <a:pt x="24754" y="57124"/>
                </a:lnTo>
                <a:lnTo>
                  <a:pt x="21685" y="56490"/>
                </a:lnTo>
                <a:lnTo>
                  <a:pt x="21384" y="56490"/>
                </a:lnTo>
                <a:lnTo>
                  <a:pt x="0" y="32370"/>
                </a:lnTo>
                <a:lnTo>
                  <a:pt x="0" y="24754"/>
                </a:lnTo>
                <a:lnTo>
                  <a:pt x="20903" y="761"/>
                </a:lnTo>
                <a:lnTo>
                  <a:pt x="20489" y="761"/>
                </a:lnTo>
                <a:lnTo>
                  <a:pt x="24754" y="0"/>
                </a:lnTo>
                <a:lnTo>
                  <a:pt x="32370" y="0"/>
                </a:lnTo>
                <a:lnTo>
                  <a:pt x="57124" y="24754"/>
                </a:lnTo>
                <a:lnTo>
                  <a:pt x="57124" y="32370"/>
                </a:lnTo>
                <a:lnTo>
                  <a:pt x="35925" y="56490"/>
                </a:lnTo>
                <a:lnTo>
                  <a:pt x="32370" y="57124"/>
                </a:lnTo>
                <a:close/>
              </a:path>
            </a:pathLst>
          </a:custGeom>
          <a:solidFill>
            <a:srgbClr val="D3C8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8374" y="3256121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70" y="57124"/>
                </a:moveTo>
                <a:lnTo>
                  <a:pt x="24754" y="57124"/>
                </a:lnTo>
                <a:lnTo>
                  <a:pt x="21685" y="56490"/>
                </a:lnTo>
                <a:lnTo>
                  <a:pt x="21384" y="56490"/>
                </a:lnTo>
                <a:lnTo>
                  <a:pt x="0" y="32370"/>
                </a:lnTo>
                <a:lnTo>
                  <a:pt x="0" y="24754"/>
                </a:lnTo>
                <a:lnTo>
                  <a:pt x="20903" y="761"/>
                </a:lnTo>
                <a:lnTo>
                  <a:pt x="20489" y="761"/>
                </a:lnTo>
                <a:lnTo>
                  <a:pt x="24754" y="0"/>
                </a:lnTo>
                <a:lnTo>
                  <a:pt x="32370" y="0"/>
                </a:lnTo>
                <a:lnTo>
                  <a:pt x="57124" y="24754"/>
                </a:lnTo>
                <a:lnTo>
                  <a:pt x="57124" y="32370"/>
                </a:lnTo>
                <a:lnTo>
                  <a:pt x="35925" y="56490"/>
                </a:lnTo>
                <a:lnTo>
                  <a:pt x="32370" y="57124"/>
                </a:lnTo>
                <a:close/>
              </a:path>
            </a:pathLst>
          </a:custGeom>
          <a:solidFill>
            <a:srgbClr val="D3C8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28374" y="358935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70" y="57124"/>
                </a:moveTo>
                <a:lnTo>
                  <a:pt x="24754" y="57124"/>
                </a:lnTo>
                <a:lnTo>
                  <a:pt x="21686" y="56490"/>
                </a:lnTo>
                <a:lnTo>
                  <a:pt x="21384" y="56490"/>
                </a:lnTo>
                <a:lnTo>
                  <a:pt x="0" y="32370"/>
                </a:lnTo>
                <a:lnTo>
                  <a:pt x="0" y="24754"/>
                </a:lnTo>
                <a:lnTo>
                  <a:pt x="20903" y="761"/>
                </a:lnTo>
                <a:lnTo>
                  <a:pt x="20489" y="761"/>
                </a:lnTo>
                <a:lnTo>
                  <a:pt x="24754" y="0"/>
                </a:lnTo>
                <a:lnTo>
                  <a:pt x="32370" y="0"/>
                </a:lnTo>
                <a:lnTo>
                  <a:pt x="57124" y="24754"/>
                </a:lnTo>
                <a:lnTo>
                  <a:pt x="57124" y="32370"/>
                </a:lnTo>
                <a:lnTo>
                  <a:pt x="35925" y="56490"/>
                </a:lnTo>
                <a:lnTo>
                  <a:pt x="32370" y="57124"/>
                </a:lnTo>
                <a:close/>
              </a:path>
            </a:pathLst>
          </a:custGeom>
          <a:solidFill>
            <a:srgbClr val="D3C8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87111" y="2144242"/>
            <a:ext cx="5624195" cy="5498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>
              <a:lnSpc>
                <a:spcPts val="1490"/>
              </a:lnSpc>
              <a:spcBef>
                <a:spcPts val="100"/>
              </a:spcBef>
            </a:pPr>
            <a:r>
              <a:rPr sz="1350" spc="105" dirty="0">
                <a:solidFill>
                  <a:srgbClr val="D3C8C4"/>
                </a:solidFill>
                <a:latin typeface="Times New Roman"/>
                <a:cs typeface="Times New Roman"/>
              </a:rPr>
              <a:t>Huge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25" dirty="0">
                <a:solidFill>
                  <a:srgbClr val="D3C8C4"/>
                </a:solidFill>
                <a:latin typeface="Times New Roman"/>
                <a:cs typeface="Times New Roman"/>
              </a:rPr>
              <a:t>volume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70" dirty="0">
                <a:solidFill>
                  <a:srgbClr val="D3C8C4"/>
                </a:solidFill>
                <a:latin typeface="Times New Roman"/>
                <a:cs typeface="Times New Roman"/>
              </a:rPr>
              <a:t>of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05" dirty="0">
                <a:solidFill>
                  <a:srgbClr val="D3C8C4"/>
                </a:solidFill>
                <a:latin typeface="Times New Roman"/>
                <a:cs typeface="Times New Roman"/>
              </a:rPr>
              <a:t>security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65" dirty="0">
                <a:solidFill>
                  <a:srgbClr val="D3C8C4"/>
                </a:solidFill>
                <a:latin typeface="Times New Roman"/>
                <a:cs typeface="Times New Roman"/>
              </a:rPr>
              <a:t>logs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10" dirty="0">
                <a:solidFill>
                  <a:srgbClr val="D3C8C4"/>
                </a:solidFill>
                <a:latin typeface="Times New Roman"/>
                <a:cs typeface="Times New Roman"/>
              </a:rPr>
              <a:t>across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75" dirty="0">
                <a:solidFill>
                  <a:srgbClr val="D3C8C4"/>
                </a:solidFill>
                <a:latin typeface="Times New Roman"/>
                <a:cs typeface="Times New Roman"/>
              </a:rPr>
              <a:t>devices.</a:t>
            </a: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ts val="1070"/>
              </a:lnSpc>
            </a:pPr>
            <a:r>
              <a:rPr sz="1000" b="1" spc="55" dirty="0">
                <a:solidFill>
                  <a:srgbClr val="FFF7F5"/>
                </a:solidFill>
                <a:latin typeface="Cambria"/>
                <a:cs typeface="Cambria"/>
              </a:rPr>
              <a:t>Problem</a:t>
            </a:r>
            <a:r>
              <a:rPr sz="1000" b="1" spc="50" dirty="0">
                <a:solidFill>
                  <a:srgbClr val="FFF7F5"/>
                </a:solidFill>
                <a:latin typeface="Cambria"/>
                <a:cs typeface="Cambria"/>
              </a:rPr>
              <a:t> Statement</a:t>
            </a:r>
            <a:endParaRPr sz="1000">
              <a:latin typeface="Cambria"/>
              <a:cs typeface="Cambria"/>
            </a:endParaRPr>
          </a:p>
          <a:p>
            <a:pPr marL="286385">
              <a:lnSpc>
                <a:spcPct val="100000"/>
              </a:lnSpc>
              <a:spcBef>
                <a:spcPts val="65"/>
              </a:spcBef>
            </a:pPr>
            <a:r>
              <a:rPr sz="1350" spc="130" dirty="0">
                <a:solidFill>
                  <a:srgbClr val="D3C8C4"/>
                </a:solidFill>
                <a:latin typeface="Times New Roman"/>
                <a:cs typeface="Times New Roman"/>
              </a:rPr>
              <a:t>Manual</a:t>
            </a:r>
            <a:r>
              <a:rPr sz="1350" spc="3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05" dirty="0">
                <a:solidFill>
                  <a:srgbClr val="D3C8C4"/>
                </a:solidFill>
                <a:latin typeface="Times New Roman"/>
                <a:cs typeface="Times New Roman"/>
              </a:rPr>
              <a:t>analysis</a:t>
            </a:r>
            <a:r>
              <a:rPr sz="1350" spc="3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65" dirty="0">
                <a:solidFill>
                  <a:srgbClr val="D3C8C4"/>
                </a:solidFill>
                <a:latin typeface="Times New Roman"/>
                <a:cs typeface="Times New Roman"/>
              </a:rPr>
              <a:t>is</a:t>
            </a:r>
            <a:r>
              <a:rPr sz="1350" spc="3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00" dirty="0">
                <a:solidFill>
                  <a:srgbClr val="D3C8C4"/>
                </a:solidFill>
                <a:latin typeface="Times New Roman"/>
                <a:cs typeface="Times New Roman"/>
              </a:rPr>
              <a:t>time-</a:t>
            </a:r>
            <a:r>
              <a:rPr sz="1350" spc="114" dirty="0">
                <a:solidFill>
                  <a:srgbClr val="D3C8C4"/>
                </a:solidFill>
                <a:latin typeface="Times New Roman"/>
                <a:cs typeface="Times New Roman"/>
              </a:rPr>
              <a:t>consuming</a:t>
            </a:r>
            <a:r>
              <a:rPr sz="1350" spc="3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65" dirty="0">
                <a:solidFill>
                  <a:srgbClr val="D3C8C4"/>
                </a:solidFill>
                <a:latin typeface="Times New Roman"/>
                <a:cs typeface="Times New Roman"/>
              </a:rPr>
              <a:t>and</a:t>
            </a:r>
            <a:r>
              <a:rPr sz="1350" spc="3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14" dirty="0">
                <a:solidFill>
                  <a:srgbClr val="D3C8C4"/>
                </a:solidFill>
                <a:latin typeface="Times New Roman"/>
                <a:cs typeface="Times New Roman"/>
              </a:rPr>
              <a:t>error-</a:t>
            </a:r>
            <a:r>
              <a:rPr sz="1350" spc="120" dirty="0">
                <a:solidFill>
                  <a:srgbClr val="D3C8C4"/>
                </a:solidFill>
                <a:latin typeface="Times New Roman"/>
                <a:cs typeface="Times New Roman"/>
              </a:rPr>
              <a:t>prone.</a:t>
            </a:r>
            <a:endParaRPr sz="135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  <a:spcBef>
                <a:spcPts val="1005"/>
              </a:spcBef>
            </a:pPr>
            <a:r>
              <a:rPr sz="1350" spc="70" dirty="0">
                <a:solidFill>
                  <a:srgbClr val="D3C8C4"/>
                </a:solidFill>
                <a:latin typeface="Times New Roman"/>
                <a:cs typeface="Times New Roman"/>
              </a:rPr>
              <a:t>Single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10" dirty="0">
                <a:solidFill>
                  <a:srgbClr val="D3C8C4"/>
                </a:solidFill>
                <a:latin typeface="Times New Roman"/>
                <a:cs typeface="Times New Roman"/>
              </a:rPr>
              <a:t>alerts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10" dirty="0">
                <a:solidFill>
                  <a:srgbClr val="D3C8C4"/>
                </a:solidFill>
                <a:latin typeface="Times New Roman"/>
                <a:cs typeface="Times New Roman"/>
              </a:rPr>
              <a:t>often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10" dirty="0">
                <a:solidFill>
                  <a:srgbClr val="D3C8C4"/>
                </a:solidFill>
                <a:latin typeface="Times New Roman"/>
                <a:cs typeface="Times New Roman"/>
              </a:rPr>
              <a:t>miss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30" dirty="0">
                <a:solidFill>
                  <a:srgbClr val="D3C8C4"/>
                </a:solidFill>
                <a:latin typeface="Times New Roman"/>
                <a:cs typeface="Times New Roman"/>
              </a:rPr>
              <a:t>the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75" dirty="0">
                <a:solidFill>
                  <a:srgbClr val="D3C8C4"/>
                </a:solidFill>
                <a:latin typeface="Times New Roman"/>
                <a:cs typeface="Times New Roman"/>
              </a:rPr>
              <a:t>full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95" dirty="0">
                <a:solidFill>
                  <a:srgbClr val="D3C8C4"/>
                </a:solidFill>
                <a:latin typeface="Times New Roman"/>
                <a:cs typeface="Times New Roman"/>
              </a:rPr>
              <a:t>multi-step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85" dirty="0">
                <a:solidFill>
                  <a:srgbClr val="D3C8C4"/>
                </a:solidFill>
                <a:latin typeface="Times New Roman"/>
                <a:cs typeface="Times New Roman"/>
              </a:rPr>
              <a:t>attack.</a:t>
            </a:r>
            <a:endParaRPr sz="135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  <a:spcBef>
                <a:spcPts val="930"/>
              </a:spcBef>
            </a:pPr>
            <a:r>
              <a:rPr sz="1350" spc="105" dirty="0">
                <a:solidFill>
                  <a:srgbClr val="D3C8C4"/>
                </a:solidFill>
                <a:latin typeface="Times New Roman"/>
                <a:cs typeface="Times New Roman"/>
              </a:rPr>
              <a:t>Reconstructing</a:t>
            </a:r>
            <a:r>
              <a:rPr sz="1350" spc="1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10" dirty="0">
                <a:solidFill>
                  <a:srgbClr val="D3C8C4"/>
                </a:solidFill>
                <a:latin typeface="Times New Roman"/>
                <a:cs typeface="Times New Roman"/>
              </a:rPr>
              <a:t>attack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20" dirty="0">
                <a:solidFill>
                  <a:srgbClr val="D3C8C4"/>
                </a:solidFill>
                <a:latin typeface="Times New Roman"/>
                <a:cs typeface="Times New Roman"/>
              </a:rPr>
              <a:t>sequences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35" dirty="0">
                <a:solidFill>
                  <a:srgbClr val="D3C8C4"/>
                </a:solidFill>
                <a:latin typeface="Times New Roman"/>
                <a:cs typeface="Times New Roman"/>
              </a:rPr>
              <a:t>from</a:t>
            </a:r>
            <a:r>
              <a:rPr sz="1350" spc="1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30" dirty="0">
                <a:solidFill>
                  <a:srgbClr val="D3C8C4"/>
                </a:solidFill>
                <a:latin typeface="Times New Roman"/>
                <a:cs typeface="Times New Roman"/>
              </a:rPr>
              <a:t>disparate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65" dirty="0">
                <a:solidFill>
                  <a:srgbClr val="D3C8C4"/>
                </a:solidFill>
                <a:latin typeface="Times New Roman"/>
                <a:cs typeface="Times New Roman"/>
              </a:rPr>
              <a:t>logs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65" dirty="0">
                <a:solidFill>
                  <a:srgbClr val="D3C8C4"/>
                </a:solidFill>
                <a:latin typeface="Times New Roman"/>
                <a:cs typeface="Times New Roman"/>
              </a:rPr>
              <a:t>is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65" dirty="0">
                <a:solidFill>
                  <a:srgbClr val="D3C8C4"/>
                </a:solidFill>
                <a:latin typeface="Times New Roman"/>
                <a:cs typeface="Times New Roman"/>
              </a:rPr>
              <a:t>difficult.</a:t>
            </a:r>
            <a:endParaRPr sz="1350">
              <a:latin typeface="Times New Roman"/>
              <a:cs typeface="Times New Roman"/>
            </a:endParaRPr>
          </a:p>
          <a:p>
            <a:pPr marL="286385" marR="5080">
              <a:lnSpc>
                <a:spcPct val="129600"/>
              </a:lnSpc>
              <a:spcBef>
                <a:spcPts val="450"/>
              </a:spcBef>
            </a:pPr>
            <a:r>
              <a:rPr sz="1350" spc="95" dirty="0">
                <a:solidFill>
                  <a:srgbClr val="D3C8C4"/>
                </a:solidFill>
                <a:latin typeface="Times New Roman"/>
                <a:cs typeface="Times New Roman"/>
              </a:rPr>
              <a:t>Identifying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85" dirty="0">
                <a:solidFill>
                  <a:srgbClr val="D3C8C4"/>
                </a:solidFill>
                <a:latin typeface="Times New Roman"/>
                <a:cs typeface="Times New Roman"/>
              </a:rPr>
              <a:t>critical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10" dirty="0">
                <a:solidFill>
                  <a:srgbClr val="D3C8C4"/>
                </a:solidFill>
                <a:latin typeface="Times New Roman"/>
                <a:cs typeface="Times New Roman"/>
              </a:rPr>
              <a:t>attack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30" dirty="0">
                <a:solidFill>
                  <a:srgbClr val="D3C8C4"/>
                </a:solidFill>
                <a:latin typeface="Times New Roman"/>
                <a:cs typeface="Times New Roman"/>
              </a:rPr>
              <a:t>paths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65" dirty="0">
                <a:solidFill>
                  <a:srgbClr val="D3C8C4"/>
                </a:solidFill>
                <a:latin typeface="Times New Roman"/>
                <a:cs typeface="Times New Roman"/>
              </a:rPr>
              <a:t>and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90" dirty="0">
                <a:solidFill>
                  <a:srgbClr val="D3C8C4"/>
                </a:solidFill>
                <a:latin typeface="Times New Roman"/>
                <a:cs typeface="Times New Roman"/>
              </a:rPr>
              <a:t>efficient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25" dirty="0">
                <a:solidFill>
                  <a:srgbClr val="D3C8C4"/>
                </a:solidFill>
                <a:latin typeface="Times New Roman"/>
                <a:cs typeface="Times New Roman"/>
              </a:rPr>
              <a:t>monitoring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14" dirty="0">
                <a:solidFill>
                  <a:srgbClr val="D3C8C4"/>
                </a:solidFill>
                <a:latin typeface="Times New Roman"/>
                <a:cs typeface="Times New Roman"/>
              </a:rPr>
              <a:t>points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40" dirty="0">
                <a:solidFill>
                  <a:srgbClr val="D3C8C4"/>
                </a:solidFill>
                <a:latin typeface="Times New Roman"/>
                <a:cs typeface="Times New Roman"/>
              </a:rPr>
              <a:t>is </a:t>
            </a:r>
            <a:r>
              <a:rPr sz="1350" spc="80" dirty="0">
                <a:solidFill>
                  <a:srgbClr val="D3C8C4"/>
                </a:solidFill>
                <a:latin typeface="Times New Roman"/>
                <a:cs typeface="Times New Roman"/>
              </a:rPr>
              <a:t>challenging.</a:t>
            </a: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50" b="1" spc="85" dirty="0">
                <a:solidFill>
                  <a:srgbClr val="FFF7F5"/>
                </a:solidFill>
                <a:latin typeface="Cambria"/>
                <a:cs typeface="Cambria"/>
              </a:rPr>
              <a:t>Objectives</a:t>
            </a:r>
            <a:endParaRPr sz="16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1650">
              <a:latin typeface="Cambria"/>
              <a:cs typeface="Cambria"/>
            </a:endParaRPr>
          </a:p>
          <a:p>
            <a:pPr marL="286385" indent="-273685">
              <a:lnSpc>
                <a:spcPct val="100000"/>
              </a:lnSpc>
              <a:buAutoNum type="arabicPeriod"/>
              <a:tabLst>
                <a:tab pos="286385" algn="l"/>
              </a:tabLst>
            </a:pPr>
            <a:r>
              <a:rPr sz="1350" spc="95" dirty="0">
                <a:solidFill>
                  <a:srgbClr val="D3C8C4"/>
                </a:solidFill>
                <a:latin typeface="Times New Roman"/>
                <a:cs typeface="Times New Roman"/>
              </a:rPr>
              <a:t>Analyze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05" dirty="0">
                <a:solidFill>
                  <a:srgbClr val="D3C8C4"/>
                </a:solidFill>
                <a:latin typeface="Times New Roman"/>
                <a:cs typeface="Times New Roman"/>
              </a:rPr>
              <a:t>security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65" dirty="0">
                <a:solidFill>
                  <a:srgbClr val="D3C8C4"/>
                </a:solidFill>
                <a:latin typeface="Times New Roman"/>
                <a:cs typeface="Times New Roman"/>
              </a:rPr>
              <a:t>logs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10" dirty="0">
                <a:solidFill>
                  <a:srgbClr val="D3C8C4"/>
                </a:solidFill>
                <a:latin typeface="Times New Roman"/>
                <a:cs typeface="Times New Roman"/>
              </a:rPr>
              <a:t>using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65" dirty="0">
                <a:solidFill>
                  <a:srgbClr val="D3C8C4"/>
                </a:solidFill>
                <a:latin typeface="Times New Roman"/>
                <a:cs typeface="Times New Roman"/>
              </a:rPr>
              <a:t>Java.</a:t>
            </a:r>
            <a:endParaRPr sz="1350">
              <a:latin typeface="Times New Roman"/>
              <a:cs typeface="Times New Roman"/>
            </a:endParaRPr>
          </a:p>
          <a:p>
            <a:pPr marL="286385" indent="-273685">
              <a:lnSpc>
                <a:spcPct val="100000"/>
              </a:lnSpc>
              <a:spcBef>
                <a:spcPts val="1005"/>
              </a:spcBef>
              <a:buAutoNum type="arabicPeriod"/>
              <a:tabLst>
                <a:tab pos="286385" algn="l"/>
              </a:tabLst>
            </a:pPr>
            <a:r>
              <a:rPr sz="1350" spc="80" dirty="0">
                <a:solidFill>
                  <a:srgbClr val="D3C8C4"/>
                </a:solidFill>
                <a:latin typeface="Times New Roman"/>
                <a:cs typeface="Times New Roman"/>
              </a:rPr>
              <a:t>Detect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00" dirty="0">
                <a:solidFill>
                  <a:srgbClr val="D3C8C4"/>
                </a:solidFill>
                <a:latin typeface="Times New Roman"/>
                <a:cs typeface="Times New Roman"/>
              </a:rPr>
              <a:t>suspicious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85" dirty="0">
                <a:solidFill>
                  <a:srgbClr val="D3C8C4"/>
                </a:solidFill>
                <a:latin typeface="Times New Roman"/>
                <a:cs typeface="Times New Roman"/>
              </a:rPr>
              <a:t>activities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25" dirty="0">
                <a:solidFill>
                  <a:srgbClr val="D3C8C4"/>
                </a:solidFill>
                <a:latin typeface="Times New Roman"/>
                <a:cs typeface="Times New Roman"/>
              </a:rPr>
              <a:t>with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25" dirty="0">
                <a:solidFill>
                  <a:srgbClr val="D3C8C4"/>
                </a:solidFill>
                <a:latin typeface="Times New Roman"/>
                <a:cs typeface="Times New Roman"/>
              </a:rPr>
              <a:t>predefined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85" dirty="0">
                <a:solidFill>
                  <a:srgbClr val="D3C8C4"/>
                </a:solidFill>
                <a:latin typeface="Times New Roman"/>
                <a:cs typeface="Times New Roman"/>
              </a:rPr>
              <a:t>rules.</a:t>
            </a:r>
            <a:endParaRPr sz="1350">
              <a:latin typeface="Times New Roman"/>
              <a:cs typeface="Times New Roman"/>
            </a:endParaRPr>
          </a:p>
          <a:p>
            <a:pPr marL="286385" indent="-273685">
              <a:lnSpc>
                <a:spcPct val="100000"/>
              </a:lnSpc>
              <a:spcBef>
                <a:spcPts val="1000"/>
              </a:spcBef>
              <a:buAutoNum type="arabicPeriod"/>
              <a:tabLst>
                <a:tab pos="286385" algn="l"/>
              </a:tabLst>
            </a:pPr>
            <a:r>
              <a:rPr sz="1350" spc="100" dirty="0">
                <a:solidFill>
                  <a:srgbClr val="D3C8C4"/>
                </a:solidFill>
                <a:latin typeface="Times New Roman"/>
                <a:cs typeface="Times New Roman"/>
              </a:rPr>
              <a:t>Correlate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25" dirty="0">
                <a:solidFill>
                  <a:srgbClr val="D3C8C4"/>
                </a:solidFill>
                <a:latin typeface="Times New Roman"/>
                <a:cs typeface="Times New Roman"/>
              </a:rPr>
              <a:t>related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10" dirty="0">
                <a:solidFill>
                  <a:srgbClr val="D3C8C4"/>
                </a:solidFill>
                <a:latin typeface="Times New Roman"/>
                <a:cs typeface="Times New Roman"/>
              </a:rPr>
              <a:t>alerts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10" dirty="0">
                <a:solidFill>
                  <a:srgbClr val="D3C8C4"/>
                </a:solidFill>
                <a:latin typeface="Times New Roman"/>
                <a:cs typeface="Times New Roman"/>
              </a:rPr>
              <a:t>into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30" dirty="0">
                <a:solidFill>
                  <a:srgbClr val="D3C8C4"/>
                </a:solidFill>
                <a:latin typeface="Times New Roman"/>
                <a:cs typeface="Times New Roman"/>
              </a:rPr>
              <a:t>coherent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85" dirty="0">
                <a:solidFill>
                  <a:srgbClr val="D3C8C4"/>
                </a:solidFill>
                <a:latin typeface="Times New Roman"/>
                <a:cs typeface="Times New Roman"/>
              </a:rPr>
              <a:t>incidents.</a:t>
            </a:r>
            <a:endParaRPr sz="1350">
              <a:latin typeface="Times New Roman"/>
              <a:cs typeface="Times New Roman"/>
            </a:endParaRPr>
          </a:p>
          <a:p>
            <a:pPr marL="286385" indent="-273685">
              <a:lnSpc>
                <a:spcPct val="100000"/>
              </a:lnSpc>
              <a:spcBef>
                <a:spcPts val="1005"/>
              </a:spcBef>
              <a:buAutoNum type="arabicPeriod"/>
              <a:tabLst>
                <a:tab pos="286385" algn="l"/>
              </a:tabLst>
            </a:pPr>
            <a:r>
              <a:rPr sz="1350" spc="105" dirty="0">
                <a:solidFill>
                  <a:srgbClr val="D3C8C4"/>
                </a:solidFill>
                <a:latin typeface="Times New Roman"/>
                <a:cs typeface="Times New Roman"/>
              </a:rPr>
              <a:t>Reconstruct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10" dirty="0">
                <a:solidFill>
                  <a:srgbClr val="D3C8C4"/>
                </a:solidFill>
                <a:latin typeface="Times New Roman"/>
                <a:cs typeface="Times New Roman"/>
              </a:rPr>
              <a:t>attack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60" dirty="0">
                <a:solidFill>
                  <a:srgbClr val="D3C8C4"/>
                </a:solidFill>
                <a:latin typeface="Times New Roman"/>
                <a:cs typeface="Times New Roman"/>
              </a:rPr>
              <a:t>kill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20" dirty="0">
                <a:solidFill>
                  <a:srgbClr val="D3C8C4"/>
                </a:solidFill>
                <a:latin typeface="Times New Roman"/>
                <a:cs typeface="Times New Roman"/>
              </a:rPr>
              <a:t>chains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35" dirty="0">
                <a:solidFill>
                  <a:srgbClr val="D3C8C4"/>
                </a:solidFill>
                <a:latin typeface="Times New Roman"/>
                <a:cs typeface="Times New Roman"/>
              </a:rPr>
              <a:t>from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20" dirty="0">
                <a:solidFill>
                  <a:srgbClr val="D3C8C4"/>
                </a:solidFill>
                <a:latin typeface="Times New Roman"/>
                <a:cs typeface="Times New Roman"/>
              </a:rPr>
              <a:t>correlated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85" dirty="0">
                <a:solidFill>
                  <a:srgbClr val="D3C8C4"/>
                </a:solidFill>
                <a:latin typeface="Times New Roman"/>
                <a:cs typeface="Times New Roman"/>
              </a:rPr>
              <a:t>alerts.</a:t>
            </a:r>
            <a:endParaRPr sz="1350">
              <a:latin typeface="Times New Roman"/>
              <a:cs typeface="Times New Roman"/>
            </a:endParaRPr>
          </a:p>
          <a:p>
            <a:pPr marL="286385" indent="-273685">
              <a:lnSpc>
                <a:spcPct val="100000"/>
              </a:lnSpc>
              <a:spcBef>
                <a:spcPts val="1005"/>
              </a:spcBef>
              <a:buAutoNum type="arabicPeriod"/>
              <a:tabLst>
                <a:tab pos="286385" algn="l"/>
              </a:tabLst>
            </a:pPr>
            <a:r>
              <a:rPr sz="1350" spc="110" dirty="0">
                <a:solidFill>
                  <a:srgbClr val="D3C8C4"/>
                </a:solidFill>
                <a:latin typeface="Times New Roman"/>
                <a:cs typeface="Times New Roman"/>
              </a:rPr>
              <a:t>Represent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10" dirty="0">
                <a:solidFill>
                  <a:srgbClr val="D3C8C4"/>
                </a:solidFill>
                <a:latin typeface="Times New Roman"/>
                <a:cs typeface="Times New Roman"/>
              </a:rPr>
              <a:t>attack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30" dirty="0">
                <a:solidFill>
                  <a:srgbClr val="D3C8C4"/>
                </a:solidFill>
                <a:latin typeface="Times New Roman"/>
                <a:cs typeface="Times New Roman"/>
              </a:rPr>
              <a:t>paths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10" dirty="0">
                <a:solidFill>
                  <a:srgbClr val="D3C8C4"/>
                </a:solidFill>
                <a:latin typeface="Times New Roman"/>
                <a:cs typeface="Times New Roman"/>
              </a:rPr>
              <a:t>using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40" dirty="0">
                <a:solidFill>
                  <a:srgbClr val="D3C8C4"/>
                </a:solidFill>
                <a:latin typeface="Times New Roman"/>
                <a:cs typeface="Times New Roman"/>
              </a:rPr>
              <a:t>graph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05" dirty="0">
                <a:solidFill>
                  <a:srgbClr val="D3C8C4"/>
                </a:solidFill>
                <a:latin typeface="Times New Roman"/>
                <a:cs typeface="Times New Roman"/>
              </a:rPr>
              <a:t>structures.</a:t>
            </a:r>
            <a:endParaRPr sz="1350">
              <a:latin typeface="Times New Roman"/>
              <a:cs typeface="Times New Roman"/>
            </a:endParaRPr>
          </a:p>
          <a:p>
            <a:pPr marL="286385" indent="-273685">
              <a:lnSpc>
                <a:spcPct val="100000"/>
              </a:lnSpc>
              <a:spcBef>
                <a:spcPts val="1005"/>
              </a:spcBef>
              <a:buAutoNum type="arabicPeriod"/>
              <a:tabLst>
                <a:tab pos="286385" algn="l"/>
              </a:tabLst>
            </a:pPr>
            <a:r>
              <a:rPr sz="1350" spc="95" dirty="0">
                <a:solidFill>
                  <a:srgbClr val="D3C8C4"/>
                </a:solidFill>
                <a:latin typeface="Times New Roman"/>
                <a:cs typeface="Times New Roman"/>
              </a:rPr>
              <a:t>Identify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85" dirty="0">
                <a:solidFill>
                  <a:srgbClr val="D3C8C4"/>
                </a:solidFill>
                <a:latin typeface="Times New Roman"/>
                <a:cs typeface="Times New Roman"/>
              </a:rPr>
              <a:t>critical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14" dirty="0">
                <a:solidFill>
                  <a:srgbClr val="D3C8C4"/>
                </a:solidFill>
                <a:latin typeface="Times New Roman"/>
                <a:cs typeface="Times New Roman"/>
              </a:rPr>
              <a:t>choke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14" dirty="0">
                <a:solidFill>
                  <a:srgbClr val="D3C8C4"/>
                </a:solidFill>
                <a:latin typeface="Times New Roman"/>
                <a:cs typeface="Times New Roman"/>
              </a:rPr>
              <a:t>points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25" dirty="0">
                <a:solidFill>
                  <a:srgbClr val="D3C8C4"/>
                </a:solidFill>
                <a:latin typeface="Times New Roman"/>
                <a:cs typeface="Times New Roman"/>
              </a:rPr>
              <a:t>in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30" dirty="0">
                <a:solidFill>
                  <a:srgbClr val="D3C8C4"/>
                </a:solidFill>
                <a:latin typeface="Times New Roman"/>
                <a:cs typeface="Times New Roman"/>
              </a:rPr>
              <a:t>the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10" dirty="0">
                <a:solidFill>
                  <a:srgbClr val="D3C8C4"/>
                </a:solidFill>
                <a:latin typeface="Times New Roman"/>
                <a:cs typeface="Times New Roman"/>
              </a:rPr>
              <a:t>attack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05" dirty="0">
                <a:solidFill>
                  <a:srgbClr val="D3C8C4"/>
                </a:solidFill>
                <a:latin typeface="Times New Roman"/>
                <a:cs typeface="Times New Roman"/>
              </a:rPr>
              <a:t>graph.</a:t>
            </a:r>
            <a:endParaRPr sz="1350">
              <a:latin typeface="Times New Roman"/>
              <a:cs typeface="Times New Roman"/>
            </a:endParaRPr>
          </a:p>
          <a:p>
            <a:pPr marL="286385" indent="-273685">
              <a:lnSpc>
                <a:spcPct val="100000"/>
              </a:lnSpc>
              <a:spcBef>
                <a:spcPts val="1000"/>
              </a:spcBef>
              <a:buAutoNum type="arabicPeriod"/>
              <a:tabLst>
                <a:tab pos="286385" algn="l"/>
              </a:tabLst>
            </a:pPr>
            <a:r>
              <a:rPr sz="1350" spc="125" dirty="0">
                <a:solidFill>
                  <a:srgbClr val="D3C8C4"/>
                </a:solidFill>
                <a:latin typeface="Times New Roman"/>
                <a:cs typeface="Times New Roman"/>
              </a:rPr>
              <a:t>Recommend</a:t>
            </a:r>
            <a:r>
              <a:rPr sz="1350" spc="3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80" dirty="0">
                <a:solidFill>
                  <a:srgbClr val="D3C8C4"/>
                </a:solidFill>
                <a:latin typeface="Times New Roman"/>
                <a:cs typeface="Times New Roman"/>
              </a:rPr>
              <a:t>effective</a:t>
            </a:r>
            <a:r>
              <a:rPr sz="1350" spc="3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25" dirty="0">
                <a:solidFill>
                  <a:srgbClr val="D3C8C4"/>
                </a:solidFill>
                <a:latin typeface="Times New Roman"/>
                <a:cs typeface="Times New Roman"/>
              </a:rPr>
              <a:t>monitoring</a:t>
            </a:r>
            <a:r>
              <a:rPr sz="1350" spc="4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85" dirty="0">
                <a:solidFill>
                  <a:srgbClr val="D3C8C4"/>
                </a:solidFill>
                <a:latin typeface="Times New Roman"/>
                <a:cs typeface="Times New Roman"/>
              </a:rPr>
              <a:t>points.</a:t>
            </a:r>
            <a:endParaRPr sz="1350">
              <a:latin typeface="Times New Roman"/>
              <a:cs typeface="Times New Roman"/>
            </a:endParaRPr>
          </a:p>
          <a:p>
            <a:pPr marL="286385" marR="334645" indent="-274320">
              <a:lnSpc>
                <a:spcPct val="129600"/>
              </a:lnSpc>
              <a:spcBef>
                <a:spcPts val="525"/>
              </a:spcBef>
              <a:buAutoNum type="arabicPeriod"/>
              <a:tabLst>
                <a:tab pos="286385" algn="l"/>
              </a:tabLst>
            </a:pPr>
            <a:r>
              <a:rPr sz="1350" spc="80" dirty="0">
                <a:solidFill>
                  <a:srgbClr val="D3C8C4"/>
                </a:solidFill>
                <a:latin typeface="Times New Roman"/>
                <a:cs typeface="Times New Roman"/>
              </a:rPr>
              <a:t>Apply</a:t>
            </a:r>
            <a:r>
              <a:rPr sz="1350" spc="1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D3C8C4"/>
                </a:solidFill>
                <a:latin typeface="Times New Roman"/>
                <a:cs typeface="Times New Roman"/>
              </a:rPr>
              <a:t>DSA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05" dirty="0">
                <a:solidFill>
                  <a:srgbClr val="D3C8C4"/>
                </a:solidFill>
                <a:latin typeface="Times New Roman"/>
                <a:cs typeface="Times New Roman"/>
              </a:rPr>
              <a:t>concepts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75" dirty="0">
                <a:solidFill>
                  <a:srgbClr val="D3C8C4"/>
                </a:solidFill>
                <a:latin typeface="Times New Roman"/>
                <a:cs typeface="Times New Roman"/>
              </a:rPr>
              <a:t>(ArrayList,</a:t>
            </a:r>
            <a:r>
              <a:rPr sz="1350" spc="1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10" dirty="0">
                <a:solidFill>
                  <a:srgbClr val="D3C8C4"/>
                </a:solidFill>
                <a:latin typeface="Times New Roman"/>
                <a:cs typeface="Times New Roman"/>
              </a:rPr>
              <a:t>HashMap,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10" dirty="0">
                <a:solidFill>
                  <a:srgbClr val="D3C8C4"/>
                </a:solidFill>
                <a:latin typeface="Times New Roman"/>
                <a:cs typeface="Times New Roman"/>
              </a:rPr>
              <a:t>Graph,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D3C8C4"/>
                </a:solidFill>
                <a:latin typeface="Times New Roman"/>
                <a:cs typeface="Times New Roman"/>
              </a:rPr>
              <a:t>BFS/DFS)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70" dirty="0">
                <a:solidFill>
                  <a:srgbClr val="D3C8C4"/>
                </a:solidFill>
                <a:latin typeface="Times New Roman"/>
                <a:cs typeface="Times New Roman"/>
              </a:rPr>
              <a:t>to </a:t>
            </a:r>
            <a:r>
              <a:rPr sz="1350" spc="80" dirty="0">
                <a:solidFill>
                  <a:srgbClr val="D3C8C4"/>
                </a:solidFill>
                <a:latin typeface="Times New Roman"/>
                <a:cs typeface="Times New Roman"/>
              </a:rPr>
              <a:t>analysis.</a:t>
            </a:r>
            <a:endParaRPr sz="135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0616" y="0"/>
            <a:ext cx="4284370" cy="81593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8191500"/>
          </a:xfrm>
          <a:custGeom>
            <a:avLst/>
            <a:gdLst/>
            <a:ahLst/>
            <a:cxnLst/>
            <a:rect l="l" t="t" r="r" b="b"/>
            <a:pathLst>
              <a:path w="11430000" h="8191500">
                <a:moveTo>
                  <a:pt x="11429999" y="8191499"/>
                </a:moveTo>
                <a:lnTo>
                  <a:pt x="0" y="81914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8191499"/>
                </a:lnTo>
                <a:close/>
              </a:path>
            </a:pathLst>
          </a:custGeom>
          <a:solidFill>
            <a:srgbClr val="4032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210" dirty="0"/>
              <a:t>Hardware</a:t>
            </a:r>
            <a:r>
              <a:rPr spc="145" dirty="0"/>
              <a:t> </a:t>
            </a:r>
            <a:r>
              <a:rPr spc="220" dirty="0"/>
              <a:t>&amp;</a:t>
            </a:r>
            <a:r>
              <a:rPr spc="150" dirty="0"/>
              <a:t> </a:t>
            </a:r>
            <a:r>
              <a:rPr spc="204" dirty="0"/>
              <a:t>Software</a:t>
            </a:r>
            <a:r>
              <a:rPr spc="150" dirty="0"/>
              <a:t> </a:t>
            </a:r>
            <a:r>
              <a:rPr spc="170" dirty="0"/>
              <a:t>Requirements</a:t>
            </a:r>
          </a:p>
        </p:txBody>
      </p:sp>
      <p:sp>
        <p:nvSpPr>
          <p:cNvPr id="4" name="object 4"/>
          <p:cNvSpPr/>
          <p:nvPr/>
        </p:nvSpPr>
        <p:spPr>
          <a:xfrm>
            <a:off x="4895850" y="20002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84" y="57149"/>
                </a:moveTo>
                <a:lnTo>
                  <a:pt x="24764" y="57149"/>
                </a:lnTo>
                <a:lnTo>
                  <a:pt x="21081" y="56387"/>
                </a:lnTo>
                <a:lnTo>
                  <a:pt x="0" y="32384"/>
                </a:lnTo>
                <a:lnTo>
                  <a:pt x="0" y="24764"/>
                </a:lnTo>
                <a:lnTo>
                  <a:pt x="24764" y="0"/>
                </a:lnTo>
                <a:lnTo>
                  <a:pt x="32384" y="0"/>
                </a:lnTo>
                <a:lnTo>
                  <a:pt x="57149" y="24764"/>
                </a:lnTo>
                <a:lnTo>
                  <a:pt x="57149" y="32384"/>
                </a:lnTo>
                <a:lnTo>
                  <a:pt x="32384" y="57149"/>
                </a:lnTo>
                <a:close/>
              </a:path>
            </a:pathLst>
          </a:custGeom>
          <a:solidFill>
            <a:srgbClr val="D3C8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895850" y="23336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84" y="57149"/>
                </a:moveTo>
                <a:lnTo>
                  <a:pt x="24764" y="57149"/>
                </a:lnTo>
                <a:lnTo>
                  <a:pt x="21081" y="56387"/>
                </a:lnTo>
                <a:lnTo>
                  <a:pt x="0" y="32384"/>
                </a:lnTo>
                <a:lnTo>
                  <a:pt x="0" y="24764"/>
                </a:lnTo>
                <a:lnTo>
                  <a:pt x="24764" y="0"/>
                </a:lnTo>
                <a:lnTo>
                  <a:pt x="32384" y="0"/>
                </a:lnTo>
                <a:lnTo>
                  <a:pt x="57149" y="24764"/>
                </a:lnTo>
                <a:lnTo>
                  <a:pt x="57149" y="32384"/>
                </a:lnTo>
                <a:lnTo>
                  <a:pt x="32384" y="57149"/>
                </a:lnTo>
                <a:close/>
              </a:path>
            </a:pathLst>
          </a:custGeom>
          <a:solidFill>
            <a:srgbClr val="D3C8C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2571898"/>
            <a:ext cx="3838574" cy="3838425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4895850" y="26669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84" y="57149"/>
                </a:moveTo>
                <a:lnTo>
                  <a:pt x="24764" y="57149"/>
                </a:lnTo>
                <a:lnTo>
                  <a:pt x="21081" y="56387"/>
                </a:lnTo>
                <a:lnTo>
                  <a:pt x="0" y="32384"/>
                </a:lnTo>
                <a:lnTo>
                  <a:pt x="0" y="24764"/>
                </a:lnTo>
                <a:lnTo>
                  <a:pt x="24764" y="0"/>
                </a:lnTo>
                <a:lnTo>
                  <a:pt x="32384" y="0"/>
                </a:lnTo>
                <a:lnTo>
                  <a:pt x="57149" y="24764"/>
                </a:lnTo>
                <a:lnTo>
                  <a:pt x="57149" y="32384"/>
                </a:lnTo>
                <a:lnTo>
                  <a:pt x="32384" y="57149"/>
                </a:lnTo>
                <a:close/>
              </a:path>
            </a:pathLst>
          </a:custGeom>
          <a:solidFill>
            <a:srgbClr val="D3C8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895850" y="30003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84" y="57149"/>
                </a:moveTo>
                <a:lnTo>
                  <a:pt x="24764" y="57149"/>
                </a:lnTo>
                <a:lnTo>
                  <a:pt x="21081" y="56387"/>
                </a:lnTo>
                <a:lnTo>
                  <a:pt x="0" y="32384"/>
                </a:lnTo>
                <a:lnTo>
                  <a:pt x="0" y="24764"/>
                </a:lnTo>
                <a:lnTo>
                  <a:pt x="24764" y="0"/>
                </a:lnTo>
                <a:lnTo>
                  <a:pt x="32384" y="0"/>
                </a:lnTo>
                <a:lnTo>
                  <a:pt x="57149" y="24764"/>
                </a:lnTo>
                <a:lnTo>
                  <a:pt x="57149" y="32384"/>
                </a:lnTo>
                <a:lnTo>
                  <a:pt x="32384" y="57149"/>
                </a:lnTo>
                <a:close/>
              </a:path>
            </a:pathLst>
          </a:custGeom>
          <a:solidFill>
            <a:srgbClr val="D3C8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895850" y="33337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85" y="57150"/>
                </a:moveTo>
                <a:lnTo>
                  <a:pt x="24765" y="57150"/>
                </a:lnTo>
                <a:lnTo>
                  <a:pt x="21695" y="56514"/>
                </a:lnTo>
                <a:lnTo>
                  <a:pt x="21393" y="56514"/>
                </a:lnTo>
                <a:lnTo>
                  <a:pt x="0" y="32385"/>
                </a:lnTo>
                <a:lnTo>
                  <a:pt x="0" y="24765"/>
                </a:lnTo>
                <a:lnTo>
                  <a:pt x="20913" y="762"/>
                </a:lnTo>
                <a:lnTo>
                  <a:pt x="20498" y="762"/>
                </a:lnTo>
                <a:lnTo>
                  <a:pt x="24765" y="0"/>
                </a:lnTo>
                <a:lnTo>
                  <a:pt x="32385" y="0"/>
                </a:lnTo>
                <a:lnTo>
                  <a:pt x="57150" y="24765"/>
                </a:lnTo>
                <a:lnTo>
                  <a:pt x="57150" y="32385"/>
                </a:lnTo>
                <a:lnTo>
                  <a:pt x="35940" y="56514"/>
                </a:lnTo>
                <a:lnTo>
                  <a:pt x="32385" y="57150"/>
                </a:lnTo>
                <a:close/>
              </a:path>
            </a:pathLst>
          </a:custGeom>
          <a:solidFill>
            <a:srgbClr val="D3C8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895850" y="42195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85" y="57150"/>
                </a:moveTo>
                <a:lnTo>
                  <a:pt x="24765" y="57150"/>
                </a:lnTo>
                <a:lnTo>
                  <a:pt x="21695" y="56514"/>
                </a:lnTo>
                <a:lnTo>
                  <a:pt x="21393" y="56514"/>
                </a:lnTo>
                <a:lnTo>
                  <a:pt x="0" y="32385"/>
                </a:lnTo>
                <a:lnTo>
                  <a:pt x="0" y="24765"/>
                </a:lnTo>
                <a:lnTo>
                  <a:pt x="20913" y="762"/>
                </a:lnTo>
                <a:lnTo>
                  <a:pt x="20498" y="762"/>
                </a:lnTo>
                <a:lnTo>
                  <a:pt x="24765" y="0"/>
                </a:lnTo>
                <a:lnTo>
                  <a:pt x="32385" y="0"/>
                </a:lnTo>
                <a:lnTo>
                  <a:pt x="57150" y="24765"/>
                </a:lnTo>
                <a:lnTo>
                  <a:pt x="57150" y="32385"/>
                </a:lnTo>
                <a:lnTo>
                  <a:pt x="35940" y="56514"/>
                </a:lnTo>
                <a:lnTo>
                  <a:pt x="32385" y="57150"/>
                </a:lnTo>
                <a:close/>
              </a:path>
            </a:pathLst>
          </a:custGeom>
          <a:solidFill>
            <a:srgbClr val="D3C8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895850" y="455295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85" y="57150"/>
                </a:moveTo>
                <a:lnTo>
                  <a:pt x="24765" y="57150"/>
                </a:lnTo>
                <a:lnTo>
                  <a:pt x="21695" y="56514"/>
                </a:lnTo>
                <a:lnTo>
                  <a:pt x="21393" y="56514"/>
                </a:lnTo>
                <a:lnTo>
                  <a:pt x="0" y="32385"/>
                </a:lnTo>
                <a:lnTo>
                  <a:pt x="0" y="24765"/>
                </a:lnTo>
                <a:lnTo>
                  <a:pt x="20913" y="762"/>
                </a:lnTo>
                <a:lnTo>
                  <a:pt x="20498" y="762"/>
                </a:lnTo>
                <a:lnTo>
                  <a:pt x="24765" y="0"/>
                </a:lnTo>
                <a:lnTo>
                  <a:pt x="32385" y="0"/>
                </a:lnTo>
                <a:lnTo>
                  <a:pt x="57150" y="24765"/>
                </a:lnTo>
                <a:lnTo>
                  <a:pt x="57150" y="32385"/>
                </a:lnTo>
                <a:lnTo>
                  <a:pt x="35940" y="56514"/>
                </a:lnTo>
                <a:lnTo>
                  <a:pt x="32385" y="57150"/>
                </a:lnTo>
                <a:close/>
              </a:path>
            </a:pathLst>
          </a:custGeom>
          <a:solidFill>
            <a:srgbClr val="D3C8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895850" y="48863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85" y="57150"/>
                </a:moveTo>
                <a:lnTo>
                  <a:pt x="24765" y="57150"/>
                </a:lnTo>
                <a:lnTo>
                  <a:pt x="21695" y="56514"/>
                </a:lnTo>
                <a:lnTo>
                  <a:pt x="21393" y="56514"/>
                </a:lnTo>
                <a:lnTo>
                  <a:pt x="0" y="32385"/>
                </a:lnTo>
                <a:lnTo>
                  <a:pt x="0" y="24765"/>
                </a:lnTo>
                <a:lnTo>
                  <a:pt x="20913" y="762"/>
                </a:lnTo>
                <a:lnTo>
                  <a:pt x="20498" y="762"/>
                </a:lnTo>
                <a:lnTo>
                  <a:pt x="24765" y="0"/>
                </a:lnTo>
                <a:lnTo>
                  <a:pt x="32385" y="0"/>
                </a:lnTo>
                <a:lnTo>
                  <a:pt x="57150" y="24765"/>
                </a:lnTo>
                <a:lnTo>
                  <a:pt x="57150" y="32385"/>
                </a:lnTo>
                <a:lnTo>
                  <a:pt x="35940" y="56514"/>
                </a:lnTo>
                <a:lnTo>
                  <a:pt x="32385" y="57150"/>
                </a:lnTo>
                <a:close/>
              </a:path>
            </a:pathLst>
          </a:custGeom>
          <a:solidFill>
            <a:srgbClr val="D3C8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895850" y="52196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85" y="57150"/>
                </a:moveTo>
                <a:lnTo>
                  <a:pt x="24765" y="57150"/>
                </a:lnTo>
                <a:lnTo>
                  <a:pt x="21694" y="56514"/>
                </a:lnTo>
                <a:lnTo>
                  <a:pt x="21393" y="56514"/>
                </a:lnTo>
                <a:lnTo>
                  <a:pt x="0" y="32385"/>
                </a:lnTo>
                <a:lnTo>
                  <a:pt x="0" y="24765"/>
                </a:lnTo>
                <a:lnTo>
                  <a:pt x="20913" y="762"/>
                </a:lnTo>
                <a:lnTo>
                  <a:pt x="20499" y="762"/>
                </a:lnTo>
                <a:lnTo>
                  <a:pt x="24765" y="0"/>
                </a:lnTo>
                <a:lnTo>
                  <a:pt x="32385" y="0"/>
                </a:lnTo>
                <a:lnTo>
                  <a:pt x="57150" y="24765"/>
                </a:lnTo>
                <a:lnTo>
                  <a:pt x="57150" y="32385"/>
                </a:lnTo>
                <a:lnTo>
                  <a:pt x="35940" y="56514"/>
                </a:lnTo>
                <a:lnTo>
                  <a:pt x="32385" y="57150"/>
                </a:lnTo>
                <a:close/>
              </a:path>
            </a:pathLst>
          </a:custGeom>
          <a:solidFill>
            <a:srgbClr val="D3C8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895850" y="55530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85" y="57150"/>
                </a:moveTo>
                <a:lnTo>
                  <a:pt x="24765" y="57150"/>
                </a:lnTo>
                <a:lnTo>
                  <a:pt x="21694" y="56514"/>
                </a:lnTo>
                <a:lnTo>
                  <a:pt x="21393" y="56514"/>
                </a:lnTo>
                <a:lnTo>
                  <a:pt x="0" y="32385"/>
                </a:lnTo>
                <a:lnTo>
                  <a:pt x="0" y="24765"/>
                </a:lnTo>
                <a:lnTo>
                  <a:pt x="20913" y="762"/>
                </a:lnTo>
                <a:lnTo>
                  <a:pt x="20499" y="762"/>
                </a:lnTo>
                <a:lnTo>
                  <a:pt x="24765" y="0"/>
                </a:lnTo>
                <a:lnTo>
                  <a:pt x="32385" y="0"/>
                </a:lnTo>
                <a:lnTo>
                  <a:pt x="57150" y="24765"/>
                </a:lnTo>
                <a:lnTo>
                  <a:pt x="57150" y="32385"/>
                </a:lnTo>
                <a:lnTo>
                  <a:pt x="35940" y="56514"/>
                </a:lnTo>
                <a:lnTo>
                  <a:pt x="32385" y="57150"/>
                </a:lnTo>
                <a:close/>
              </a:path>
            </a:pathLst>
          </a:custGeom>
          <a:solidFill>
            <a:srgbClr val="D3C8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895850" y="58864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85" y="57150"/>
                </a:moveTo>
                <a:lnTo>
                  <a:pt x="24765" y="57150"/>
                </a:lnTo>
                <a:lnTo>
                  <a:pt x="21694" y="56514"/>
                </a:lnTo>
                <a:lnTo>
                  <a:pt x="21393" y="56514"/>
                </a:lnTo>
                <a:lnTo>
                  <a:pt x="0" y="32385"/>
                </a:lnTo>
                <a:lnTo>
                  <a:pt x="0" y="24765"/>
                </a:lnTo>
                <a:lnTo>
                  <a:pt x="20913" y="762"/>
                </a:lnTo>
                <a:lnTo>
                  <a:pt x="20499" y="762"/>
                </a:lnTo>
                <a:lnTo>
                  <a:pt x="24765" y="0"/>
                </a:lnTo>
                <a:lnTo>
                  <a:pt x="32385" y="0"/>
                </a:lnTo>
                <a:lnTo>
                  <a:pt x="57150" y="24765"/>
                </a:lnTo>
                <a:lnTo>
                  <a:pt x="57150" y="32385"/>
                </a:lnTo>
                <a:lnTo>
                  <a:pt x="35940" y="56514"/>
                </a:lnTo>
                <a:lnTo>
                  <a:pt x="32385" y="57150"/>
                </a:lnTo>
                <a:close/>
              </a:path>
            </a:pathLst>
          </a:custGeom>
          <a:solidFill>
            <a:srgbClr val="D3C8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895850" y="62198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85" y="57150"/>
                </a:moveTo>
                <a:lnTo>
                  <a:pt x="24765" y="57150"/>
                </a:lnTo>
                <a:lnTo>
                  <a:pt x="21081" y="56388"/>
                </a:lnTo>
                <a:lnTo>
                  <a:pt x="0" y="32385"/>
                </a:lnTo>
                <a:lnTo>
                  <a:pt x="0" y="24765"/>
                </a:lnTo>
                <a:lnTo>
                  <a:pt x="20913" y="762"/>
                </a:lnTo>
                <a:lnTo>
                  <a:pt x="20499" y="762"/>
                </a:lnTo>
                <a:lnTo>
                  <a:pt x="24765" y="0"/>
                </a:lnTo>
                <a:lnTo>
                  <a:pt x="32385" y="0"/>
                </a:lnTo>
                <a:lnTo>
                  <a:pt x="57150" y="24765"/>
                </a:lnTo>
                <a:lnTo>
                  <a:pt x="57150" y="32385"/>
                </a:lnTo>
                <a:lnTo>
                  <a:pt x="35940" y="56515"/>
                </a:lnTo>
                <a:lnTo>
                  <a:pt x="32385" y="57150"/>
                </a:lnTo>
                <a:close/>
              </a:path>
            </a:pathLst>
          </a:custGeom>
          <a:solidFill>
            <a:srgbClr val="D3C8C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4867271" y="6581771"/>
            <a:ext cx="5972810" cy="943610"/>
            <a:chOff x="4867271" y="6581771"/>
            <a:chExt cx="5972810" cy="943610"/>
          </a:xfrm>
        </p:grpSpPr>
        <p:sp>
          <p:nvSpPr>
            <p:cNvPr id="17" name="object 17"/>
            <p:cNvSpPr/>
            <p:nvPr/>
          </p:nvSpPr>
          <p:spPr>
            <a:xfrm>
              <a:off x="4867271" y="6581771"/>
              <a:ext cx="5972810" cy="943610"/>
            </a:xfrm>
            <a:custGeom>
              <a:avLst/>
              <a:gdLst/>
              <a:ahLst/>
              <a:cxnLst/>
              <a:rect l="l" t="t" r="r" b="b"/>
              <a:pathLst>
                <a:path w="5972809" h="943609">
                  <a:moveTo>
                    <a:pt x="5953614" y="943099"/>
                  </a:moveTo>
                  <a:lnTo>
                    <a:pt x="18668" y="943099"/>
                  </a:lnTo>
                  <a:lnTo>
                    <a:pt x="15875" y="942590"/>
                  </a:lnTo>
                  <a:lnTo>
                    <a:pt x="0" y="924430"/>
                  </a:lnTo>
                  <a:lnTo>
                    <a:pt x="0" y="18668"/>
                  </a:lnTo>
                  <a:lnTo>
                    <a:pt x="18542" y="0"/>
                  </a:lnTo>
                  <a:lnTo>
                    <a:pt x="5953488" y="0"/>
                  </a:lnTo>
                  <a:lnTo>
                    <a:pt x="5972283" y="18668"/>
                  </a:lnTo>
                  <a:lnTo>
                    <a:pt x="5972260" y="924430"/>
                  </a:lnTo>
                  <a:lnTo>
                    <a:pt x="5953614" y="943099"/>
                  </a:lnTo>
                  <a:close/>
                </a:path>
              </a:pathLst>
            </a:custGeom>
            <a:solidFill>
              <a:srgbClr val="5C34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70852" y="6849613"/>
              <a:ext cx="150113" cy="150113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4856060" y="1441995"/>
            <a:ext cx="5732145" cy="58432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120" dirty="0">
                <a:solidFill>
                  <a:srgbClr val="FFF7F5"/>
                </a:solidFill>
                <a:latin typeface="Cambria"/>
                <a:cs typeface="Cambria"/>
              </a:rPr>
              <a:t>Hardware</a:t>
            </a:r>
            <a:r>
              <a:rPr sz="1650" b="1" spc="110" dirty="0">
                <a:solidFill>
                  <a:srgbClr val="FFF7F5"/>
                </a:solidFill>
                <a:latin typeface="Cambria"/>
                <a:cs typeface="Cambria"/>
              </a:rPr>
              <a:t> </a:t>
            </a:r>
            <a:r>
              <a:rPr sz="1650" b="1" spc="85" dirty="0">
                <a:solidFill>
                  <a:srgbClr val="FFF7F5"/>
                </a:solidFill>
                <a:latin typeface="Cambria"/>
                <a:cs typeface="Cambria"/>
              </a:rPr>
              <a:t>Requirements</a:t>
            </a:r>
            <a:endParaRPr sz="1650">
              <a:latin typeface="Cambria"/>
              <a:cs typeface="Cambria"/>
            </a:endParaRPr>
          </a:p>
          <a:p>
            <a:pPr marL="286385" marR="3721735">
              <a:lnSpc>
                <a:spcPct val="157400"/>
              </a:lnSpc>
              <a:spcBef>
                <a:spcPts val="665"/>
              </a:spcBef>
            </a:pPr>
            <a:r>
              <a:rPr sz="1350" spc="120" dirty="0">
                <a:solidFill>
                  <a:srgbClr val="D3C8C4"/>
                </a:solidFill>
                <a:latin typeface="Times New Roman"/>
                <a:cs typeface="Times New Roman"/>
              </a:rPr>
              <a:t>Computer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D3C8C4"/>
                </a:solidFill>
                <a:latin typeface="Times New Roman"/>
                <a:cs typeface="Times New Roman"/>
              </a:rPr>
              <a:t>/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95" dirty="0">
                <a:solidFill>
                  <a:srgbClr val="D3C8C4"/>
                </a:solidFill>
                <a:latin typeface="Times New Roman"/>
                <a:cs typeface="Times New Roman"/>
              </a:rPr>
              <a:t>Laptop </a:t>
            </a:r>
            <a:r>
              <a:rPr sz="1350" spc="135" dirty="0">
                <a:solidFill>
                  <a:srgbClr val="D3C8C4"/>
                </a:solidFill>
                <a:latin typeface="Times New Roman"/>
                <a:cs typeface="Times New Roman"/>
              </a:rPr>
              <a:t>Minimum</a:t>
            </a:r>
            <a:r>
              <a:rPr sz="1350" spc="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70" dirty="0">
                <a:solidFill>
                  <a:srgbClr val="D3C8C4"/>
                </a:solidFill>
                <a:latin typeface="Times New Roman"/>
                <a:cs typeface="Times New Roman"/>
              </a:rPr>
              <a:t>4</a:t>
            </a:r>
            <a:r>
              <a:rPr sz="1350" spc="1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D3C8C4"/>
                </a:solidFill>
                <a:latin typeface="Times New Roman"/>
                <a:cs typeface="Times New Roman"/>
              </a:rPr>
              <a:t>GB</a:t>
            </a:r>
            <a:r>
              <a:rPr sz="1350" spc="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-25" dirty="0">
                <a:solidFill>
                  <a:srgbClr val="D3C8C4"/>
                </a:solidFill>
                <a:latin typeface="Times New Roman"/>
                <a:cs typeface="Times New Roman"/>
              </a:rPr>
              <a:t>RAM </a:t>
            </a:r>
            <a:r>
              <a:rPr sz="1350" spc="95" dirty="0">
                <a:solidFill>
                  <a:srgbClr val="D3C8C4"/>
                </a:solidFill>
                <a:latin typeface="Times New Roman"/>
                <a:cs typeface="Times New Roman"/>
              </a:rPr>
              <a:t>Intel</a:t>
            </a:r>
            <a:r>
              <a:rPr sz="1350" spc="1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65" dirty="0">
                <a:solidFill>
                  <a:srgbClr val="D3C8C4"/>
                </a:solidFill>
                <a:latin typeface="Times New Roman"/>
                <a:cs typeface="Times New Roman"/>
              </a:rPr>
              <a:t>i3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40" dirty="0">
                <a:solidFill>
                  <a:srgbClr val="D3C8C4"/>
                </a:solidFill>
                <a:latin typeface="Times New Roman"/>
                <a:cs typeface="Times New Roman"/>
              </a:rPr>
              <a:t>or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10" dirty="0">
                <a:solidFill>
                  <a:srgbClr val="D3C8C4"/>
                </a:solidFill>
                <a:latin typeface="Times New Roman"/>
                <a:cs typeface="Times New Roman"/>
              </a:rPr>
              <a:t>equivalent</a:t>
            </a:r>
            <a:endParaRPr sz="1350">
              <a:latin typeface="Times New Roman"/>
              <a:cs typeface="Times New Roman"/>
            </a:endParaRPr>
          </a:p>
          <a:p>
            <a:pPr marL="286385" marR="2976245">
              <a:lnSpc>
                <a:spcPct val="157400"/>
              </a:lnSpc>
            </a:pPr>
            <a:r>
              <a:rPr sz="1350" spc="135" dirty="0">
                <a:solidFill>
                  <a:srgbClr val="D3C8C4"/>
                </a:solidFill>
                <a:latin typeface="Times New Roman"/>
                <a:cs typeface="Times New Roman"/>
              </a:rPr>
              <a:t>Minimum</a:t>
            </a:r>
            <a:r>
              <a:rPr sz="135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70" dirty="0">
                <a:solidFill>
                  <a:srgbClr val="D3C8C4"/>
                </a:solidFill>
                <a:latin typeface="Times New Roman"/>
                <a:cs typeface="Times New Roman"/>
              </a:rPr>
              <a:t>10</a:t>
            </a:r>
            <a:r>
              <a:rPr sz="1350" spc="1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D3C8C4"/>
                </a:solidFill>
                <a:latin typeface="Times New Roman"/>
                <a:cs typeface="Times New Roman"/>
              </a:rPr>
              <a:t>GB</a:t>
            </a:r>
            <a:r>
              <a:rPr sz="1350" spc="1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14" dirty="0">
                <a:solidFill>
                  <a:srgbClr val="D3C8C4"/>
                </a:solidFill>
                <a:latin typeface="Times New Roman"/>
                <a:cs typeface="Times New Roman"/>
              </a:rPr>
              <a:t>free</a:t>
            </a:r>
            <a:r>
              <a:rPr sz="1350" spc="1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00" dirty="0">
                <a:solidFill>
                  <a:srgbClr val="D3C8C4"/>
                </a:solidFill>
                <a:latin typeface="Times New Roman"/>
                <a:cs typeface="Times New Roman"/>
              </a:rPr>
              <a:t>storage </a:t>
            </a:r>
            <a:r>
              <a:rPr sz="1350" spc="130" dirty="0">
                <a:solidFill>
                  <a:srgbClr val="D3C8C4"/>
                </a:solidFill>
                <a:latin typeface="Times New Roman"/>
                <a:cs typeface="Times New Roman"/>
              </a:rPr>
              <a:t>Internet</a:t>
            </a:r>
            <a:r>
              <a:rPr sz="1350" spc="3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14" dirty="0">
                <a:solidFill>
                  <a:srgbClr val="D3C8C4"/>
                </a:solidFill>
                <a:latin typeface="Times New Roman"/>
                <a:cs typeface="Times New Roman"/>
              </a:rPr>
              <a:t>connection</a:t>
            </a:r>
            <a:r>
              <a:rPr sz="1350" spc="3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80" dirty="0">
                <a:solidFill>
                  <a:srgbClr val="D3C8C4"/>
                </a:solidFill>
                <a:latin typeface="Times New Roman"/>
                <a:cs typeface="Times New Roman"/>
              </a:rPr>
              <a:t>(optional)</a:t>
            </a: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50" b="1" spc="105" dirty="0">
                <a:solidFill>
                  <a:srgbClr val="FFF7F5"/>
                </a:solidFill>
                <a:latin typeface="Cambria"/>
                <a:cs typeface="Cambria"/>
              </a:rPr>
              <a:t>Software</a:t>
            </a:r>
            <a:r>
              <a:rPr sz="1650" b="1" spc="110" dirty="0">
                <a:solidFill>
                  <a:srgbClr val="FFF7F5"/>
                </a:solidFill>
                <a:latin typeface="Cambria"/>
                <a:cs typeface="Cambria"/>
              </a:rPr>
              <a:t> </a:t>
            </a:r>
            <a:r>
              <a:rPr sz="1650" b="1" spc="85" dirty="0">
                <a:solidFill>
                  <a:srgbClr val="FFF7F5"/>
                </a:solidFill>
                <a:latin typeface="Cambria"/>
                <a:cs typeface="Cambria"/>
              </a:rPr>
              <a:t>Requirements</a:t>
            </a:r>
            <a:endParaRPr sz="1650">
              <a:latin typeface="Cambria"/>
              <a:cs typeface="Cambria"/>
            </a:endParaRPr>
          </a:p>
          <a:p>
            <a:pPr marL="286385" marR="491490">
              <a:lnSpc>
                <a:spcPct val="157400"/>
              </a:lnSpc>
              <a:spcBef>
                <a:spcPts val="665"/>
              </a:spcBef>
            </a:pPr>
            <a:r>
              <a:rPr sz="1350" spc="85" dirty="0">
                <a:solidFill>
                  <a:srgbClr val="D3C8C4"/>
                </a:solidFill>
                <a:latin typeface="Times New Roman"/>
                <a:cs typeface="Times New Roman"/>
              </a:rPr>
              <a:t>Core</a:t>
            </a:r>
            <a:r>
              <a:rPr sz="1350" spc="1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80" dirty="0">
                <a:solidFill>
                  <a:srgbClr val="D3C8C4"/>
                </a:solidFill>
                <a:latin typeface="Times New Roman"/>
                <a:cs typeface="Times New Roman"/>
              </a:rPr>
              <a:t>Technologies:</a:t>
            </a:r>
            <a:r>
              <a:rPr sz="1350" spc="1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b="1" spc="70" dirty="0">
                <a:solidFill>
                  <a:srgbClr val="D3C8C4"/>
                </a:solidFill>
                <a:latin typeface="Cambria"/>
                <a:cs typeface="Cambria"/>
              </a:rPr>
              <a:t>Java</a:t>
            </a:r>
            <a:r>
              <a:rPr sz="1350" b="1" spc="50" dirty="0">
                <a:solidFill>
                  <a:srgbClr val="D3C8C4"/>
                </a:solidFill>
                <a:latin typeface="Cambria"/>
                <a:cs typeface="Cambria"/>
              </a:rPr>
              <a:t> </a:t>
            </a:r>
            <a:r>
              <a:rPr sz="1350" dirty="0">
                <a:solidFill>
                  <a:srgbClr val="D3C8C4"/>
                </a:solidFill>
                <a:latin typeface="Times New Roman"/>
                <a:cs typeface="Times New Roman"/>
              </a:rPr>
              <a:t>+</a:t>
            </a:r>
            <a:r>
              <a:rPr sz="1350" spc="1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b="1" spc="105" dirty="0">
                <a:solidFill>
                  <a:srgbClr val="D3C8C4"/>
                </a:solidFill>
                <a:latin typeface="Cambria"/>
                <a:cs typeface="Cambria"/>
              </a:rPr>
              <a:t>DSA</a:t>
            </a:r>
            <a:r>
              <a:rPr sz="1350" b="1" spc="55" dirty="0">
                <a:solidFill>
                  <a:srgbClr val="D3C8C4"/>
                </a:solidFill>
                <a:latin typeface="Cambria"/>
                <a:cs typeface="Cambria"/>
              </a:rPr>
              <a:t> </a:t>
            </a:r>
            <a:r>
              <a:rPr sz="1350" dirty="0">
                <a:solidFill>
                  <a:srgbClr val="D3C8C4"/>
                </a:solidFill>
                <a:latin typeface="Times New Roman"/>
                <a:cs typeface="Times New Roman"/>
              </a:rPr>
              <a:t>+</a:t>
            </a:r>
            <a:r>
              <a:rPr sz="1350" spc="1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90" dirty="0">
                <a:solidFill>
                  <a:srgbClr val="D3C8C4"/>
                </a:solidFill>
                <a:latin typeface="Times New Roman"/>
                <a:cs typeface="Times New Roman"/>
              </a:rPr>
              <a:t>Java</a:t>
            </a:r>
            <a:r>
              <a:rPr sz="1350" spc="1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90" dirty="0">
                <a:solidFill>
                  <a:srgbClr val="D3C8C4"/>
                </a:solidFill>
                <a:latin typeface="Times New Roman"/>
                <a:cs typeface="Times New Roman"/>
              </a:rPr>
              <a:t>Servlets</a:t>
            </a:r>
            <a:r>
              <a:rPr sz="1350" spc="1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D3C8C4"/>
                </a:solidFill>
                <a:latin typeface="Times New Roman"/>
                <a:cs typeface="Times New Roman"/>
              </a:rPr>
              <a:t>+</a:t>
            </a:r>
            <a:r>
              <a:rPr sz="1350" spc="1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D3C8C4"/>
                </a:solidFill>
                <a:latin typeface="Times New Roman"/>
                <a:cs typeface="Times New Roman"/>
              </a:rPr>
              <a:t>JSP</a:t>
            </a:r>
            <a:r>
              <a:rPr sz="1350" spc="1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D3C8C4"/>
                </a:solidFill>
                <a:latin typeface="Times New Roman"/>
                <a:cs typeface="Times New Roman"/>
              </a:rPr>
              <a:t>+</a:t>
            </a:r>
            <a:r>
              <a:rPr sz="1350" spc="1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D3C8C4"/>
                </a:solidFill>
                <a:latin typeface="Times New Roman"/>
                <a:cs typeface="Times New Roman"/>
              </a:rPr>
              <a:t>MySQL </a:t>
            </a:r>
            <a:r>
              <a:rPr sz="1350" spc="90" dirty="0">
                <a:solidFill>
                  <a:srgbClr val="D3C8C4"/>
                </a:solidFill>
                <a:latin typeface="Times New Roman"/>
                <a:cs typeface="Times New Roman"/>
              </a:rPr>
              <a:t>Java</a:t>
            </a:r>
            <a:r>
              <a:rPr sz="1350" spc="-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D3C8C4"/>
                </a:solidFill>
                <a:latin typeface="Times New Roman"/>
                <a:cs typeface="Times New Roman"/>
              </a:rPr>
              <a:t>JDK</a:t>
            </a:r>
            <a:r>
              <a:rPr sz="1350" spc="-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85" dirty="0">
                <a:solidFill>
                  <a:srgbClr val="D3C8C4"/>
                </a:solidFill>
                <a:latin typeface="Times New Roman"/>
                <a:cs typeface="Times New Roman"/>
              </a:rPr>
              <a:t>(latest</a:t>
            </a:r>
            <a:r>
              <a:rPr sz="1350" spc="-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80" dirty="0">
                <a:solidFill>
                  <a:srgbClr val="D3C8C4"/>
                </a:solidFill>
                <a:latin typeface="Times New Roman"/>
                <a:cs typeface="Times New Roman"/>
              </a:rPr>
              <a:t>stable)</a:t>
            </a:r>
            <a:endParaRPr sz="1350">
              <a:latin typeface="Times New Roman"/>
              <a:cs typeface="Times New Roman"/>
            </a:endParaRPr>
          </a:p>
          <a:p>
            <a:pPr marL="286385" marR="2835910">
              <a:lnSpc>
                <a:spcPct val="157400"/>
              </a:lnSpc>
            </a:pPr>
            <a:r>
              <a:rPr sz="1350" spc="100" dirty="0">
                <a:solidFill>
                  <a:srgbClr val="D3C8C4"/>
                </a:solidFill>
                <a:latin typeface="Times New Roman"/>
                <a:cs typeface="Times New Roman"/>
              </a:rPr>
              <a:t>Apache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00" dirty="0">
                <a:solidFill>
                  <a:srgbClr val="D3C8C4"/>
                </a:solidFill>
                <a:latin typeface="Times New Roman"/>
                <a:cs typeface="Times New Roman"/>
              </a:rPr>
              <a:t>Tomcat</a:t>
            </a:r>
            <a:r>
              <a:rPr sz="1350" spc="3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10" dirty="0">
                <a:solidFill>
                  <a:srgbClr val="D3C8C4"/>
                </a:solidFill>
                <a:latin typeface="Times New Roman"/>
                <a:cs typeface="Times New Roman"/>
              </a:rPr>
              <a:t>(web</a:t>
            </a:r>
            <a:r>
              <a:rPr sz="1350" spc="3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05" dirty="0">
                <a:solidFill>
                  <a:srgbClr val="D3C8C4"/>
                </a:solidFill>
                <a:latin typeface="Times New Roman"/>
                <a:cs typeface="Times New Roman"/>
              </a:rPr>
              <a:t>container) </a:t>
            </a:r>
            <a:r>
              <a:rPr sz="1350" dirty="0">
                <a:solidFill>
                  <a:srgbClr val="D3C8C4"/>
                </a:solidFill>
                <a:latin typeface="Times New Roman"/>
                <a:cs typeface="Times New Roman"/>
              </a:rPr>
              <a:t>MySQL</a:t>
            </a:r>
            <a:r>
              <a:rPr sz="1350" spc="18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00" dirty="0">
                <a:solidFill>
                  <a:srgbClr val="D3C8C4"/>
                </a:solidFill>
                <a:latin typeface="Times New Roman"/>
                <a:cs typeface="Times New Roman"/>
              </a:rPr>
              <a:t>(database)</a:t>
            </a:r>
            <a:endParaRPr sz="135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  <a:spcBef>
                <a:spcPts val="930"/>
              </a:spcBef>
            </a:pPr>
            <a:r>
              <a:rPr sz="1350" spc="70" dirty="0">
                <a:solidFill>
                  <a:srgbClr val="D3C8C4"/>
                </a:solidFill>
                <a:latin typeface="Times New Roman"/>
                <a:cs typeface="Times New Roman"/>
              </a:rPr>
              <a:t>Eclipse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D3C8C4"/>
                </a:solidFill>
                <a:latin typeface="Times New Roman"/>
                <a:cs typeface="Times New Roman"/>
              </a:rPr>
              <a:t>/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70" dirty="0">
                <a:solidFill>
                  <a:srgbClr val="D3C8C4"/>
                </a:solidFill>
                <a:latin typeface="Times New Roman"/>
                <a:cs typeface="Times New Roman"/>
              </a:rPr>
              <a:t>IntelliJ</a:t>
            </a:r>
            <a:r>
              <a:rPr sz="1350" spc="3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D3C8C4"/>
                </a:solidFill>
                <a:latin typeface="Times New Roman"/>
                <a:cs typeface="Times New Roman"/>
              </a:rPr>
              <a:t>IDEA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D3C8C4"/>
                </a:solidFill>
                <a:latin typeface="Times New Roman"/>
                <a:cs typeface="Times New Roman"/>
              </a:rPr>
              <a:t>/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85" dirty="0">
                <a:solidFill>
                  <a:srgbClr val="D3C8C4"/>
                </a:solidFill>
                <a:latin typeface="Times New Roman"/>
                <a:cs typeface="Times New Roman"/>
              </a:rPr>
              <a:t>NetBeans</a:t>
            </a:r>
            <a:endParaRPr sz="1350">
              <a:latin typeface="Times New Roman"/>
              <a:cs typeface="Times New Roman"/>
            </a:endParaRPr>
          </a:p>
          <a:p>
            <a:pPr marL="286385" marR="1484630">
              <a:lnSpc>
                <a:spcPct val="157400"/>
              </a:lnSpc>
            </a:pPr>
            <a:r>
              <a:rPr sz="1350" dirty="0">
                <a:solidFill>
                  <a:srgbClr val="D3C8C4"/>
                </a:solidFill>
                <a:latin typeface="Times New Roman"/>
                <a:cs typeface="Times New Roman"/>
              </a:rPr>
              <a:t>HTML,</a:t>
            </a:r>
            <a:r>
              <a:rPr sz="1350" spc="3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D3C8C4"/>
                </a:solidFill>
                <a:latin typeface="Times New Roman"/>
                <a:cs typeface="Times New Roman"/>
              </a:rPr>
              <a:t>CSS,</a:t>
            </a:r>
            <a:r>
              <a:rPr sz="1350" spc="3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90" dirty="0">
                <a:solidFill>
                  <a:srgbClr val="D3C8C4"/>
                </a:solidFill>
                <a:latin typeface="Times New Roman"/>
                <a:cs typeface="Times New Roman"/>
              </a:rPr>
              <a:t>JavaScript</a:t>
            </a:r>
            <a:r>
              <a:rPr sz="1350" spc="3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85" dirty="0">
                <a:solidFill>
                  <a:srgbClr val="D3C8C4"/>
                </a:solidFill>
                <a:latin typeface="Times New Roman"/>
                <a:cs typeface="Times New Roman"/>
              </a:rPr>
              <a:t>(for</a:t>
            </a:r>
            <a:r>
              <a:rPr sz="1350" spc="3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05" dirty="0">
                <a:solidFill>
                  <a:srgbClr val="D3C8C4"/>
                </a:solidFill>
                <a:latin typeface="Times New Roman"/>
                <a:cs typeface="Times New Roman"/>
              </a:rPr>
              <a:t>front-</a:t>
            </a:r>
            <a:r>
              <a:rPr sz="1350" spc="135" dirty="0">
                <a:solidFill>
                  <a:srgbClr val="D3C8C4"/>
                </a:solidFill>
                <a:latin typeface="Times New Roman"/>
                <a:cs typeface="Times New Roman"/>
              </a:rPr>
              <a:t>end</a:t>
            </a:r>
            <a:r>
              <a:rPr sz="1350" spc="3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20" dirty="0">
                <a:solidFill>
                  <a:srgbClr val="D3C8C4"/>
                </a:solidFill>
                <a:latin typeface="Times New Roman"/>
                <a:cs typeface="Times New Roman"/>
              </a:rPr>
              <a:t>dashboard) </a:t>
            </a:r>
            <a:r>
              <a:rPr sz="1350" dirty="0">
                <a:solidFill>
                  <a:srgbClr val="D3C8C4"/>
                </a:solidFill>
                <a:latin typeface="Times New Roman"/>
                <a:cs typeface="Times New Roman"/>
              </a:rPr>
              <a:t>Git</a:t>
            </a:r>
            <a:r>
              <a:rPr sz="1350" spc="6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D3C8C4"/>
                </a:solidFill>
                <a:latin typeface="Times New Roman"/>
                <a:cs typeface="Times New Roman"/>
              </a:rPr>
              <a:t>/</a:t>
            </a:r>
            <a:r>
              <a:rPr sz="1350" spc="7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90" dirty="0">
                <a:solidFill>
                  <a:srgbClr val="D3C8C4"/>
                </a:solidFill>
                <a:latin typeface="Times New Roman"/>
                <a:cs typeface="Times New Roman"/>
              </a:rPr>
              <a:t>GitHub</a:t>
            </a:r>
            <a:r>
              <a:rPr sz="1350" spc="7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80" dirty="0">
                <a:solidFill>
                  <a:srgbClr val="D3C8C4"/>
                </a:solidFill>
                <a:latin typeface="Times New Roman"/>
                <a:cs typeface="Times New Roman"/>
              </a:rPr>
              <a:t>(optional)</a:t>
            </a: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75"/>
              </a:spcBef>
            </a:pPr>
            <a:endParaRPr sz="1350">
              <a:latin typeface="Times New Roman"/>
              <a:cs typeface="Times New Roman"/>
            </a:endParaRPr>
          </a:p>
          <a:p>
            <a:pPr marL="569595">
              <a:lnSpc>
                <a:spcPct val="100000"/>
              </a:lnSpc>
            </a:pPr>
            <a:r>
              <a:rPr sz="1350" spc="85" dirty="0">
                <a:solidFill>
                  <a:srgbClr val="FFFFFF"/>
                </a:solidFill>
                <a:latin typeface="Times New Roman"/>
                <a:cs typeface="Times New Roman"/>
              </a:rPr>
              <a:t>Core</a:t>
            </a:r>
            <a:r>
              <a:rPr sz="13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spc="90" dirty="0">
                <a:solidFill>
                  <a:srgbClr val="FFFFFF"/>
                </a:solidFill>
                <a:latin typeface="Times New Roman"/>
                <a:cs typeface="Times New Roman"/>
              </a:rPr>
              <a:t>Technologies</a:t>
            </a:r>
            <a:r>
              <a:rPr sz="13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spc="120" dirty="0">
                <a:solidFill>
                  <a:srgbClr val="FFFFFF"/>
                </a:solidFill>
                <a:latin typeface="Times New Roman"/>
                <a:cs typeface="Times New Roman"/>
              </a:rPr>
              <a:t>emphasised:</a:t>
            </a:r>
            <a:r>
              <a:rPr sz="13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spc="90" dirty="0">
                <a:solidFill>
                  <a:srgbClr val="FFFFFF"/>
                </a:solidFill>
                <a:latin typeface="Times New Roman"/>
                <a:cs typeface="Times New Roman"/>
              </a:rPr>
              <a:t>Java</a:t>
            </a:r>
            <a:r>
              <a:rPr sz="13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sz="13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FFFF"/>
                </a:solidFill>
                <a:latin typeface="Times New Roman"/>
                <a:cs typeface="Times New Roman"/>
              </a:rPr>
              <a:t>DSA</a:t>
            </a:r>
            <a:r>
              <a:rPr sz="13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sz="13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spc="90" dirty="0">
                <a:solidFill>
                  <a:srgbClr val="FFFFFF"/>
                </a:solidFill>
                <a:latin typeface="Times New Roman"/>
                <a:cs typeface="Times New Roman"/>
              </a:rPr>
              <a:t>Java</a:t>
            </a:r>
            <a:r>
              <a:rPr sz="13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spc="90" dirty="0">
                <a:solidFill>
                  <a:srgbClr val="FFFFFF"/>
                </a:solidFill>
                <a:latin typeface="Times New Roman"/>
                <a:cs typeface="Times New Roman"/>
              </a:rPr>
              <a:t>Servlets</a:t>
            </a:r>
            <a:r>
              <a:rPr sz="13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sz="13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spc="-25" dirty="0">
                <a:solidFill>
                  <a:srgbClr val="FFFFFF"/>
                </a:solidFill>
                <a:latin typeface="Times New Roman"/>
                <a:cs typeface="Times New Roman"/>
              </a:rPr>
              <a:t>JSP</a:t>
            </a:r>
            <a:endParaRPr sz="1350">
              <a:latin typeface="Times New Roman"/>
              <a:cs typeface="Times New Roman"/>
            </a:endParaRPr>
          </a:p>
          <a:p>
            <a:pPr marL="569595">
              <a:lnSpc>
                <a:spcPct val="100000"/>
              </a:lnSpc>
              <a:spcBef>
                <a:spcPts val="480"/>
              </a:spcBef>
            </a:pPr>
            <a:r>
              <a:rPr sz="1350" dirty="0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sz="1350" spc="-10" dirty="0">
                <a:solidFill>
                  <a:srgbClr val="FFFFFF"/>
                </a:solidFill>
                <a:latin typeface="Times New Roman"/>
                <a:cs typeface="Times New Roman"/>
              </a:rPr>
              <a:t> MySQL</a:t>
            </a:r>
            <a:endParaRPr sz="1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29458" y="6438595"/>
                </a:moveTo>
                <a:lnTo>
                  <a:pt x="0" y="6438595"/>
                </a:lnTo>
                <a:lnTo>
                  <a:pt x="0" y="0"/>
                </a:lnTo>
                <a:lnTo>
                  <a:pt x="11429458" y="0"/>
                </a:lnTo>
                <a:lnTo>
                  <a:pt x="11429458" y="6438595"/>
                </a:lnTo>
                <a:close/>
              </a:path>
            </a:pathLst>
          </a:custGeom>
          <a:solidFill>
            <a:srgbClr val="4032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587346" y="1305964"/>
            <a:ext cx="8534400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45" dirty="0"/>
              <a:t>Results</a:t>
            </a:r>
            <a:r>
              <a:rPr spc="150" dirty="0"/>
              <a:t> </a:t>
            </a:r>
            <a:r>
              <a:rPr dirty="0"/>
              <a:t>—</a:t>
            </a:r>
            <a:r>
              <a:rPr spc="145" dirty="0"/>
              <a:t> </a:t>
            </a:r>
            <a:r>
              <a:rPr spc="180" dirty="0"/>
              <a:t>System</a:t>
            </a:r>
            <a:r>
              <a:rPr spc="150" dirty="0"/>
              <a:t> </a:t>
            </a:r>
            <a:r>
              <a:rPr spc="175" dirty="0"/>
              <a:t>Behaviour</a:t>
            </a:r>
            <a:r>
              <a:rPr spc="150" dirty="0"/>
              <a:t> </a:t>
            </a:r>
            <a:r>
              <a:rPr spc="165" dirty="0"/>
              <a:t>(Example)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72178" y="2194890"/>
            <a:ext cx="7212965" cy="697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1350" spc="95" dirty="0">
                <a:solidFill>
                  <a:srgbClr val="D3C8C4"/>
                </a:solidFill>
                <a:latin typeface="Times New Roman"/>
                <a:cs typeface="Times New Roman"/>
              </a:rPr>
              <a:t>Examplelog</a:t>
            </a:r>
            <a:r>
              <a:rPr sz="1350" spc="3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00" dirty="0">
                <a:solidFill>
                  <a:srgbClr val="D3C8C4"/>
                </a:solidFill>
                <a:latin typeface="Times New Roman"/>
                <a:cs typeface="Times New Roman"/>
              </a:rPr>
              <a:t>sequence:</a:t>
            </a: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135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</a:pPr>
            <a:r>
              <a:rPr sz="1350" spc="80" dirty="0">
                <a:solidFill>
                  <a:srgbClr val="D3C8C4"/>
                </a:solidFill>
                <a:latin typeface="Times New Roman"/>
                <a:cs typeface="Times New Roman"/>
              </a:rPr>
              <a:t>Login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95" dirty="0">
                <a:solidFill>
                  <a:srgbClr val="D3C8C4"/>
                </a:solidFill>
                <a:latin typeface="Times New Roman"/>
                <a:cs typeface="Times New Roman"/>
              </a:rPr>
              <a:t>Failed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D3C8C4"/>
                </a:solidFill>
                <a:latin typeface="Times New Roman"/>
                <a:cs typeface="Times New Roman"/>
              </a:rPr>
              <a:t>→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80" dirty="0">
                <a:solidFill>
                  <a:srgbClr val="D3C8C4"/>
                </a:solidFill>
                <a:latin typeface="Times New Roman"/>
                <a:cs typeface="Times New Roman"/>
              </a:rPr>
              <a:t>Login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95" dirty="0">
                <a:solidFill>
                  <a:srgbClr val="D3C8C4"/>
                </a:solidFill>
                <a:latin typeface="Times New Roman"/>
                <a:cs typeface="Times New Roman"/>
              </a:rPr>
              <a:t>Failed</a:t>
            </a:r>
            <a:r>
              <a:rPr sz="1350" spc="-8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2025" baseline="10288" dirty="0">
                <a:solidFill>
                  <a:srgbClr val="D3C8C4"/>
                </a:solidFill>
                <a:latin typeface="Arial"/>
                <a:cs typeface="Arial"/>
              </a:rPr>
              <a:t>→</a:t>
            </a:r>
            <a:r>
              <a:rPr sz="2025" spc="-22" baseline="10288" dirty="0">
                <a:solidFill>
                  <a:srgbClr val="D3C8C4"/>
                </a:solidFill>
                <a:latin typeface="Arial"/>
                <a:cs typeface="Arial"/>
              </a:rPr>
              <a:t> </a:t>
            </a:r>
            <a:r>
              <a:rPr sz="1350" spc="80" dirty="0">
                <a:solidFill>
                  <a:srgbClr val="D3C8C4"/>
                </a:solidFill>
                <a:latin typeface="Times New Roman"/>
                <a:cs typeface="Times New Roman"/>
              </a:rPr>
              <a:t>Login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75" dirty="0">
                <a:solidFill>
                  <a:srgbClr val="D3C8C4"/>
                </a:solidFill>
                <a:latin typeface="Times New Roman"/>
                <a:cs typeface="Times New Roman"/>
              </a:rPr>
              <a:t>Success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2025" baseline="10288" dirty="0">
                <a:solidFill>
                  <a:srgbClr val="D3C8C4"/>
                </a:solidFill>
                <a:latin typeface="Arial"/>
                <a:cs typeface="Arial"/>
              </a:rPr>
              <a:t>→</a:t>
            </a:r>
            <a:r>
              <a:rPr sz="2025" spc="-22" baseline="10288" dirty="0">
                <a:solidFill>
                  <a:srgbClr val="D3C8C4"/>
                </a:solidFill>
                <a:latin typeface="Arial"/>
                <a:cs typeface="Arial"/>
              </a:rPr>
              <a:t> </a:t>
            </a:r>
            <a:r>
              <a:rPr sz="1350" spc="85" dirty="0">
                <a:solidFill>
                  <a:srgbClr val="D3C8C4"/>
                </a:solidFill>
                <a:latin typeface="Times New Roman"/>
                <a:cs typeface="Times New Roman"/>
              </a:rPr>
              <a:t>Privilege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95" dirty="0">
                <a:solidFill>
                  <a:srgbClr val="D3C8C4"/>
                </a:solidFill>
                <a:latin typeface="Times New Roman"/>
                <a:cs typeface="Times New Roman"/>
              </a:rPr>
              <a:t>Escalation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2025" baseline="10288" dirty="0">
                <a:solidFill>
                  <a:srgbClr val="D3C8C4"/>
                </a:solidFill>
                <a:latin typeface="Arial"/>
                <a:cs typeface="Arial"/>
              </a:rPr>
              <a:t>→</a:t>
            </a:r>
            <a:r>
              <a:rPr sz="2025" spc="-22" baseline="10288" dirty="0">
                <a:solidFill>
                  <a:srgbClr val="D3C8C4"/>
                </a:solidFill>
                <a:latin typeface="Arial"/>
                <a:cs typeface="Arial"/>
              </a:rPr>
              <a:t> </a:t>
            </a:r>
            <a:r>
              <a:rPr sz="1350" spc="114" dirty="0">
                <a:solidFill>
                  <a:srgbClr val="D3C8C4"/>
                </a:solidFill>
                <a:latin typeface="Times New Roman"/>
                <a:cs typeface="Times New Roman"/>
              </a:rPr>
              <a:t>Database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50" dirty="0">
                <a:solidFill>
                  <a:srgbClr val="D3C8C4"/>
                </a:solidFill>
                <a:latin typeface="Times New Roman"/>
                <a:cs typeface="Times New Roman"/>
              </a:rPr>
              <a:t>Access</a:t>
            </a:r>
            <a:endParaRPr sz="135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46" y="3114527"/>
            <a:ext cx="694808" cy="42860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496645" y="3106389"/>
            <a:ext cx="1327785" cy="14255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349885">
              <a:lnSpc>
                <a:spcPct val="102299"/>
              </a:lnSpc>
              <a:spcBef>
                <a:spcPts val="90"/>
              </a:spcBef>
            </a:pPr>
            <a:r>
              <a:rPr sz="1650" b="1" spc="80" dirty="0">
                <a:solidFill>
                  <a:srgbClr val="D3C8C4"/>
                </a:solidFill>
                <a:latin typeface="Cambria"/>
                <a:cs typeface="Cambria"/>
              </a:rPr>
              <a:t>Detected Threat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sz="1350" spc="95" dirty="0">
                <a:solidFill>
                  <a:srgbClr val="D3C8C4"/>
                </a:solidFill>
                <a:latin typeface="Times New Roman"/>
                <a:cs typeface="Times New Roman"/>
              </a:rPr>
              <a:t>Brute-</a:t>
            </a:r>
            <a:r>
              <a:rPr sz="1350" spc="90" dirty="0">
                <a:solidFill>
                  <a:srgbClr val="D3C8C4"/>
                </a:solidFill>
                <a:latin typeface="Times New Roman"/>
                <a:cs typeface="Times New Roman"/>
              </a:rPr>
              <a:t>force</a:t>
            </a:r>
            <a:r>
              <a:rPr sz="1350" spc="4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-50" dirty="0">
                <a:solidFill>
                  <a:srgbClr val="D3C8C4"/>
                </a:solidFill>
                <a:latin typeface="Times New Roman"/>
                <a:cs typeface="Times New Roman"/>
              </a:rPr>
              <a:t>/</a:t>
            </a:r>
            <a:endParaRPr sz="1350">
              <a:latin typeface="Times New Roman"/>
              <a:cs typeface="Times New Roman"/>
            </a:endParaRPr>
          </a:p>
          <a:p>
            <a:pPr marL="12700" marR="5080">
              <a:lnSpc>
                <a:spcPct val="129600"/>
              </a:lnSpc>
            </a:pPr>
            <a:r>
              <a:rPr sz="1350" spc="100" dirty="0">
                <a:solidFill>
                  <a:srgbClr val="D3C8C4"/>
                </a:solidFill>
                <a:latin typeface="Times New Roman"/>
                <a:cs typeface="Times New Roman"/>
              </a:rPr>
              <a:t>suspicious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75" dirty="0">
                <a:solidFill>
                  <a:srgbClr val="D3C8C4"/>
                </a:solidFill>
                <a:latin typeface="Times New Roman"/>
                <a:cs typeface="Times New Roman"/>
              </a:rPr>
              <a:t>login </a:t>
            </a:r>
            <a:r>
              <a:rPr sz="1350" spc="130" dirty="0">
                <a:solidFill>
                  <a:srgbClr val="D3C8C4"/>
                </a:solidFill>
                <a:latin typeface="Times New Roman"/>
                <a:cs typeface="Times New Roman"/>
              </a:rPr>
              <a:t>pattern</a:t>
            </a:r>
            <a:endParaRPr sz="135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09773" y="3114527"/>
            <a:ext cx="694808" cy="42860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107562" y="3108723"/>
            <a:ext cx="1482090" cy="11569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90" dirty="0">
                <a:solidFill>
                  <a:srgbClr val="D3C8C4"/>
                </a:solidFill>
                <a:latin typeface="Cambria"/>
                <a:cs typeface="Cambria"/>
              </a:rPr>
              <a:t>Severity</a:t>
            </a:r>
            <a:endParaRPr sz="1650">
              <a:latin typeface="Cambria"/>
              <a:cs typeface="Cambria"/>
            </a:endParaRPr>
          </a:p>
          <a:p>
            <a:pPr marL="12700" marR="5080" algn="just">
              <a:lnSpc>
                <a:spcPct val="129600"/>
              </a:lnSpc>
              <a:spcBef>
                <a:spcPts val="590"/>
              </a:spcBef>
            </a:pPr>
            <a:r>
              <a:rPr sz="1350" spc="90" dirty="0">
                <a:solidFill>
                  <a:srgbClr val="D3C8C4"/>
                </a:solidFill>
                <a:latin typeface="Times New Roman"/>
                <a:cs typeface="Times New Roman"/>
              </a:rPr>
              <a:t>High</a:t>
            </a:r>
            <a:r>
              <a:rPr sz="1350" spc="33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D3C8C4"/>
                </a:solidFill>
                <a:latin typeface="Times New Roman"/>
                <a:cs typeface="Times New Roman"/>
              </a:rPr>
              <a:t>—</a:t>
            </a:r>
            <a:r>
              <a:rPr sz="1350" spc="33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25" dirty="0">
                <a:solidFill>
                  <a:srgbClr val="D3C8C4"/>
                </a:solidFill>
                <a:latin typeface="Times New Roman"/>
                <a:cs typeface="Times New Roman"/>
              </a:rPr>
              <a:t>repeated </a:t>
            </a:r>
            <a:r>
              <a:rPr sz="1350" spc="105" dirty="0">
                <a:solidFill>
                  <a:srgbClr val="D3C8C4"/>
                </a:solidFill>
                <a:latin typeface="Times New Roman"/>
                <a:cs typeface="Times New Roman"/>
              </a:rPr>
              <a:t>failures</a:t>
            </a:r>
            <a:r>
              <a:rPr sz="1350" spc="125" dirty="0">
                <a:solidFill>
                  <a:srgbClr val="D3C8C4"/>
                </a:solidFill>
                <a:latin typeface="Times New Roman"/>
                <a:cs typeface="Times New Roman"/>
              </a:rPr>
              <a:t>  </a:t>
            </a:r>
            <a:r>
              <a:rPr sz="1350" spc="85" dirty="0">
                <a:solidFill>
                  <a:srgbClr val="D3C8C4"/>
                </a:solidFill>
                <a:latin typeface="Times New Roman"/>
                <a:cs typeface="Times New Roman"/>
              </a:rPr>
              <a:t>followed </a:t>
            </a:r>
            <a:r>
              <a:rPr sz="1350" spc="110" dirty="0">
                <a:solidFill>
                  <a:srgbClr val="D3C8C4"/>
                </a:solidFill>
                <a:latin typeface="Times New Roman"/>
                <a:cs typeface="Times New Roman"/>
              </a:rPr>
              <a:t>by</a:t>
            </a:r>
            <a:r>
              <a:rPr sz="1350" spc="1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80" dirty="0">
                <a:solidFill>
                  <a:srgbClr val="D3C8C4"/>
                </a:solidFill>
                <a:latin typeface="Times New Roman"/>
                <a:cs typeface="Times New Roman"/>
              </a:rPr>
              <a:t>success</a:t>
            </a:r>
            <a:endParaRPr sz="135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19499" y="3114527"/>
            <a:ext cx="694808" cy="42860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6718479" y="3106389"/>
            <a:ext cx="1363980" cy="14255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170180">
              <a:lnSpc>
                <a:spcPct val="102299"/>
              </a:lnSpc>
              <a:spcBef>
                <a:spcPts val="90"/>
              </a:spcBef>
            </a:pPr>
            <a:r>
              <a:rPr sz="1650" b="1" spc="95" dirty="0">
                <a:solidFill>
                  <a:srgbClr val="D3C8C4"/>
                </a:solidFill>
                <a:latin typeface="Cambria"/>
                <a:cs typeface="Cambria"/>
              </a:rPr>
              <a:t>Correlated </a:t>
            </a:r>
            <a:r>
              <a:rPr sz="1650" b="1" spc="85" dirty="0">
                <a:solidFill>
                  <a:srgbClr val="D3C8C4"/>
                </a:solidFill>
                <a:latin typeface="Cambria"/>
                <a:cs typeface="Cambria"/>
              </a:rPr>
              <a:t>Alerts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sz="1350" spc="90" dirty="0">
                <a:solidFill>
                  <a:srgbClr val="D3C8C4"/>
                </a:solidFill>
                <a:latin typeface="Times New Roman"/>
                <a:cs typeface="Times New Roman"/>
              </a:rPr>
              <a:t>Multiple</a:t>
            </a:r>
            <a:r>
              <a:rPr sz="1350" spc="3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75" dirty="0">
                <a:solidFill>
                  <a:srgbClr val="D3C8C4"/>
                </a:solidFill>
                <a:latin typeface="Times New Roman"/>
                <a:cs typeface="Times New Roman"/>
              </a:rPr>
              <a:t>login</a:t>
            </a:r>
            <a:endParaRPr sz="1350">
              <a:latin typeface="Times New Roman"/>
              <a:cs typeface="Times New Roman"/>
            </a:endParaRPr>
          </a:p>
          <a:p>
            <a:pPr marL="12700" marR="5080">
              <a:lnSpc>
                <a:spcPct val="129600"/>
              </a:lnSpc>
            </a:pPr>
            <a:r>
              <a:rPr sz="1350" spc="120" dirty="0">
                <a:solidFill>
                  <a:srgbClr val="D3C8C4"/>
                </a:solidFill>
                <a:latin typeface="Times New Roman"/>
                <a:cs typeface="Times New Roman"/>
              </a:rPr>
              <a:t>events</a:t>
            </a:r>
            <a:r>
              <a:rPr sz="1350" spc="1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10" dirty="0">
                <a:solidFill>
                  <a:srgbClr val="D3C8C4"/>
                </a:solidFill>
                <a:latin typeface="Times New Roman"/>
                <a:cs typeface="Times New Roman"/>
              </a:rPr>
              <a:t>linked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85" dirty="0">
                <a:solidFill>
                  <a:srgbClr val="D3C8C4"/>
                </a:solidFill>
                <a:latin typeface="Times New Roman"/>
                <a:cs typeface="Times New Roman"/>
              </a:rPr>
              <a:t>by </a:t>
            </a:r>
            <a:r>
              <a:rPr sz="1350" spc="120" dirty="0">
                <a:solidFill>
                  <a:srgbClr val="D3C8C4"/>
                </a:solidFill>
                <a:latin typeface="Times New Roman"/>
                <a:cs typeface="Times New Roman"/>
              </a:rPr>
              <a:t>source</a:t>
            </a:r>
            <a:r>
              <a:rPr sz="1350" spc="3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85" dirty="0">
                <a:solidFill>
                  <a:srgbClr val="D3C8C4"/>
                </a:solidFill>
                <a:latin typeface="Times New Roman"/>
                <a:cs typeface="Times New Roman"/>
              </a:rPr>
              <a:t>IP/user</a:t>
            </a:r>
            <a:endParaRPr sz="135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429225" y="3114527"/>
            <a:ext cx="694808" cy="42860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9329396" y="3108723"/>
            <a:ext cx="1353820" cy="19685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114" dirty="0">
                <a:solidFill>
                  <a:srgbClr val="D3C8C4"/>
                </a:solidFill>
                <a:latin typeface="Cambria"/>
                <a:cs typeface="Cambria"/>
              </a:rPr>
              <a:t>Outcome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29600"/>
              </a:lnSpc>
              <a:spcBef>
                <a:spcPts val="605"/>
              </a:spcBef>
            </a:pPr>
            <a:r>
              <a:rPr sz="1350" spc="80" dirty="0">
                <a:solidFill>
                  <a:srgbClr val="D3C8C4"/>
                </a:solidFill>
                <a:latin typeface="Times New Roman"/>
                <a:cs typeface="Times New Roman"/>
              </a:rPr>
              <a:t>Attack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60" dirty="0">
                <a:solidFill>
                  <a:srgbClr val="D3C8C4"/>
                </a:solidFill>
                <a:latin typeface="Times New Roman"/>
                <a:cs typeface="Times New Roman"/>
              </a:rPr>
              <a:t>kill</a:t>
            </a:r>
            <a:r>
              <a:rPr sz="1350" spc="3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14" dirty="0">
                <a:solidFill>
                  <a:srgbClr val="D3C8C4"/>
                </a:solidFill>
                <a:latin typeface="Times New Roman"/>
                <a:cs typeface="Times New Roman"/>
              </a:rPr>
              <a:t>chain </a:t>
            </a:r>
            <a:r>
              <a:rPr sz="1350" spc="100" dirty="0">
                <a:solidFill>
                  <a:srgbClr val="D3C8C4"/>
                </a:solidFill>
                <a:latin typeface="Times New Roman"/>
                <a:cs typeface="Times New Roman"/>
              </a:rPr>
              <a:t>reconstructed; </a:t>
            </a:r>
            <a:r>
              <a:rPr sz="1350" spc="114" dirty="0">
                <a:solidFill>
                  <a:srgbClr val="D3C8C4"/>
                </a:solidFill>
                <a:latin typeface="Times New Roman"/>
                <a:cs typeface="Times New Roman"/>
              </a:rPr>
              <a:t>choke</a:t>
            </a:r>
            <a:r>
              <a:rPr sz="1350" spc="1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10" dirty="0">
                <a:solidFill>
                  <a:srgbClr val="D3C8C4"/>
                </a:solidFill>
                <a:latin typeface="Times New Roman"/>
                <a:cs typeface="Times New Roman"/>
              </a:rPr>
              <a:t>point </a:t>
            </a:r>
            <a:r>
              <a:rPr sz="1350" spc="85" dirty="0">
                <a:solidFill>
                  <a:srgbClr val="D3C8C4"/>
                </a:solidFill>
                <a:latin typeface="Times New Roman"/>
                <a:cs typeface="Times New Roman"/>
              </a:rPr>
              <a:t>identified;</a:t>
            </a:r>
            <a:endParaRPr sz="1350">
              <a:latin typeface="Times New Roman"/>
              <a:cs typeface="Times New Roman"/>
            </a:endParaRPr>
          </a:p>
          <a:p>
            <a:pPr marL="12700" marR="148590">
              <a:lnSpc>
                <a:spcPts val="2170"/>
              </a:lnSpc>
              <a:spcBef>
                <a:spcPts val="35"/>
              </a:spcBef>
            </a:pPr>
            <a:r>
              <a:rPr sz="1350" spc="114" dirty="0">
                <a:solidFill>
                  <a:srgbClr val="D3C8C4"/>
                </a:solidFill>
                <a:latin typeface="Times New Roman"/>
                <a:cs typeface="Times New Roman"/>
              </a:rPr>
              <a:t>monitoring </a:t>
            </a:r>
            <a:r>
              <a:rPr sz="1350" spc="135" dirty="0">
                <a:solidFill>
                  <a:srgbClr val="D3C8C4"/>
                </a:solidFill>
                <a:latin typeface="Times New Roman"/>
                <a:cs typeface="Times New Roman"/>
              </a:rPr>
              <a:t>recommended</a:t>
            </a:r>
            <a:endParaRPr sz="1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" y="-3"/>
            <a:ext cx="11424285" cy="6559550"/>
          </a:xfrm>
          <a:custGeom>
            <a:avLst/>
            <a:gdLst/>
            <a:ahLst/>
            <a:cxnLst/>
            <a:rect l="l" t="t" r="r" b="b"/>
            <a:pathLst>
              <a:path w="11424285" h="6559550">
                <a:moveTo>
                  <a:pt x="11423759" y="6559142"/>
                </a:moveTo>
                <a:lnTo>
                  <a:pt x="0" y="6559142"/>
                </a:lnTo>
                <a:lnTo>
                  <a:pt x="0" y="0"/>
                </a:lnTo>
                <a:lnTo>
                  <a:pt x="11423759" y="0"/>
                </a:lnTo>
                <a:lnTo>
                  <a:pt x="11423759" y="6559142"/>
                </a:lnTo>
                <a:close/>
              </a:path>
            </a:pathLst>
          </a:custGeom>
          <a:solidFill>
            <a:srgbClr val="4032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270" dirty="0"/>
              <a:t>DSA</a:t>
            </a:r>
            <a:r>
              <a:rPr spc="155" dirty="0"/>
              <a:t> </a:t>
            </a:r>
            <a:r>
              <a:rPr spc="175" dirty="0"/>
              <a:t>Implementation</a:t>
            </a:r>
            <a:r>
              <a:rPr spc="160" dirty="0"/>
              <a:t> </a:t>
            </a:r>
            <a:r>
              <a:rPr spc="210" dirty="0"/>
              <a:t>and</a:t>
            </a:r>
            <a:r>
              <a:rPr spc="155" dirty="0"/>
              <a:t> </a:t>
            </a:r>
            <a:r>
              <a:rPr spc="170" dirty="0"/>
              <a:t>Visual</a:t>
            </a:r>
            <a:r>
              <a:rPr spc="160" dirty="0"/>
              <a:t> </a:t>
            </a:r>
            <a:r>
              <a:rPr spc="135" dirty="0"/>
              <a:t>Results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9747" y="1761164"/>
            <a:ext cx="3836481" cy="3836481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893179" y="198963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7" y="57118"/>
                </a:moveTo>
                <a:lnTo>
                  <a:pt x="24751" y="57118"/>
                </a:lnTo>
                <a:lnTo>
                  <a:pt x="21683" y="56484"/>
                </a:lnTo>
                <a:lnTo>
                  <a:pt x="21381" y="56484"/>
                </a:lnTo>
                <a:lnTo>
                  <a:pt x="0" y="32367"/>
                </a:lnTo>
                <a:lnTo>
                  <a:pt x="0" y="24751"/>
                </a:lnTo>
                <a:lnTo>
                  <a:pt x="24751" y="0"/>
                </a:lnTo>
                <a:lnTo>
                  <a:pt x="32367" y="0"/>
                </a:lnTo>
                <a:lnTo>
                  <a:pt x="57118" y="24751"/>
                </a:lnTo>
                <a:lnTo>
                  <a:pt x="57118" y="32367"/>
                </a:lnTo>
                <a:lnTo>
                  <a:pt x="35921" y="56484"/>
                </a:lnTo>
                <a:lnTo>
                  <a:pt x="32367" y="57118"/>
                </a:lnTo>
                <a:close/>
              </a:path>
            </a:pathLst>
          </a:custGeom>
          <a:solidFill>
            <a:srgbClr val="D3C8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893179" y="2322832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7" y="57118"/>
                </a:moveTo>
                <a:lnTo>
                  <a:pt x="24751" y="57118"/>
                </a:lnTo>
                <a:lnTo>
                  <a:pt x="21683" y="56484"/>
                </a:lnTo>
                <a:lnTo>
                  <a:pt x="21381" y="56484"/>
                </a:lnTo>
                <a:lnTo>
                  <a:pt x="0" y="32367"/>
                </a:lnTo>
                <a:lnTo>
                  <a:pt x="0" y="24751"/>
                </a:lnTo>
                <a:lnTo>
                  <a:pt x="24751" y="0"/>
                </a:lnTo>
                <a:lnTo>
                  <a:pt x="32367" y="0"/>
                </a:lnTo>
                <a:lnTo>
                  <a:pt x="57118" y="24751"/>
                </a:lnTo>
                <a:lnTo>
                  <a:pt x="57118" y="32367"/>
                </a:lnTo>
                <a:lnTo>
                  <a:pt x="35921" y="56484"/>
                </a:lnTo>
                <a:lnTo>
                  <a:pt x="32367" y="57118"/>
                </a:lnTo>
                <a:close/>
              </a:path>
            </a:pathLst>
          </a:custGeom>
          <a:solidFill>
            <a:srgbClr val="D3C8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893179" y="26560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7" y="57118"/>
                </a:moveTo>
                <a:lnTo>
                  <a:pt x="24751" y="57118"/>
                </a:lnTo>
                <a:lnTo>
                  <a:pt x="21683" y="56484"/>
                </a:lnTo>
                <a:lnTo>
                  <a:pt x="21381" y="56484"/>
                </a:lnTo>
                <a:lnTo>
                  <a:pt x="0" y="32367"/>
                </a:lnTo>
                <a:lnTo>
                  <a:pt x="0" y="24751"/>
                </a:lnTo>
                <a:lnTo>
                  <a:pt x="24751" y="0"/>
                </a:lnTo>
                <a:lnTo>
                  <a:pt x="32367" y="0"/>
                </a:lnTo>
                <a:lnTo>
                  <a:pt x="57118" y="24751"/>
                </a:lnTo>
                <a:lnTo>
                  <a:pt x="57118" y="32367"/>
                </a:lnTo>
                <a:lnTo>
                  <a:pt x="35921" y="56484"/>
                </a:lnTo>
                <a:lnTo>
                  <a:pt x="32367" y="57118"/>
                </a:lnTo>
                <a:close/>
              </a:path>
            </a:pathLst>
          </a:custGeom>
          <a:solidFill>
            <a:srgbClr val="D3C8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893179" y="2989218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7" y="57118"/>
                </a:moveTo>
                <a:lnTo>
                  <a:pt x="24751" y="57118"/>
                </a:lnTo>
                <a:lnTo>
                  <a:pt x="21683" y="56484"/>
                </a:lnTo>
                <a:lnTo>
                  <a:pt x="21381" y="56484"/>
                </a:lnTo>
                <a:lnTo>
                  <a:pt x="0" y="32367"/>
                </a:lnTo>
                <a:lnTo>
                  <a:pt x="0" y="24751"/>
                </a:lnTo>
                <a:lnTo>
                  <a:pt x="24751" y="0"/>
                </a:lnTo>
                <a:lnTo>
                  <a:pt x="32367" y="0"/>
                </a:lnTo>
                <a:lnTo>
                  <a:pt x="57118" y="24751"/>
                </a:lnTo>
                <a:lnTo>
                  <a:pt x="57118" y="32367"/>
                </a:lnTo>
                <a:lnTo>
                  <a:pt x="35921" y="56484"/>
                </a:lnTo>
                <a:lnTo>
                  <a:pt x="32367" y="57118"/>
                </a:lnTo>
                <a:close/>
              </a:path>
            </a:pathLst>
          </a:custGeom>
          <a:solidFill>
            <a:srgbClr val="D3C8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893179" y="3322411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7" y="57118"/>
                </a:moveTo>
                <a:lnTo>
                  <a:pt x="24751" y="57118"/>
                </a:lnTo>
                <a:lnTo>
                  <a:pt x="21683" y="56484"/>
                </a:lnTo>
                <a:lnTo>
                  <a:pt x="21381" y="56484"/>
                </a:lnTo>
                <a:lnTo>
                  <a:pt x="0" y="32367"/>
                </a:lnTo>
                <a:lnTo>
                  <a:pt x="0" y="24751"/>
                </a:lnTo>
                <a:lnTo>
                  <a:pt x="20901" y="761"/>
                </a:lnTo>
                <a:lnTo>
                  <a:pt x="20487" y="761"/>
                </a:lnTo>
                <a:lnTo>
                  <a:pt x="24751" y="0"/>
                </a:lnTo>
                <a:lnTo>
                  <a:pt x="32367" y="0"/>
                </a:lnTo>
                <a:lnTo>
                  <a:pt x="57118" y="24751"/>
                </a:lnTo>
                <a:lnTo>
                  <a:pt x="57118" y="32367"/>
                </a:lnTo>
                <a:lnTo>
                  <a:pt x="35921" y="56484"/>
                </a:lnTo>
                <a:lnTo>
                  <a:pt x="32367" y="57118"/>
                </a:lnTo>
                <a:close/>
              </a:path>
            </a:pathLst>
          </a:custGeom>
          <a:solidFill>
            <a:srgbClr val="D3C8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893179" y="365560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7" y="57118"/>
                </a:moveTo>
                <a:lnTo>
                  <a:pt x="24751" y="57118"/>
                </a:lnTo>
                <a:lnTo>
                  <a:pt x="21683" y="56484"/>
                </a:lnTo>
                <a:lnTo>
                  <a:pt x="21381" y="56484"/>
                </a:lnTo>
                <a:lnTo>
                  <a:pt x="0" y="32367"/>
                </a:lnTo>
                <a:lnTo>
                  <a:pt x="0" y="24751"/>
                </a:lnTo>
                <a:lnTo>
                  <a:pt x="20901" y="761"/>
                </a:lnTo>
                <a:lnTo>
                  <a:pt x="20487" y="761"/>
                </a:lnTo>
                <a:lnTo>
                  <a:pt x="24751" y="0"/>
                </a:lnTo>
                <a:lnTo>
                  <a:pt x="32367" y="0"/>
                </a:lnTo>
                <a:lnTo>
                  <a:pt x="57118" y="24751"/>
                </a:lnTo>
                <a:lnTo>
                  <a:pt x="57118" y="32367"/>
                </a:lnTo>
                <a:lnTo>
                  <a:pt x="35921" y="56484"/>
                </a:lnTo>
                <a:lnTo>
                  <a:pt x="32367" y="57118"/>
                </a:lnTo>
                <a:close/>
              </a:path>
            </a:pathLst>
          </a:custGeom>
          <a:solidFill>
            <a:srgbClr val="D3C8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893179" y="3988798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7" y="57118"/>
                </a:moveTo>
                <a:lnTo>
                  <a:pt x="24751" y="57118"/>
                </a:lnTo>
                <a:lnTo>
                  <a:pt x="21683" y="56484"/>
                </a:lnTo>
                <a:lnTo>
                  <a:pt x="21381" y="56484"/>
                </a:lnTo>
                <a:lnTo>
                  <a:pt x="0" y="32367"/>
                </a:lnTo>
                <a:lnTo>
                  <a:pt x="0" y="24751"/>
                </a:lnTo>
                <a:lnTo>
                  <a:pt x="20901" y="761"/>
                </a:lnTo>
                <a:lnTo>
                  <a:pt x="20487" y="761"/>
                </a:lnTo>
                <a:lnTo>
                  <a:pt x="24751" y="0"/>
                </a:lnTo>
                <a:lnTo>
                  <a:pt x="32367" y="0"/>
                </a:lnTo>
                <a:lnTo>
                  <a:pt x="57118" y="24751"/>
                </a:lnTo>
                <a:lnTo>
                  <a:pt x="57118" y="32367"/>
                </a:lnTo>
                <a:lnTo>
                  <a:pt x="35921" y="56484"/>
                </a:lnTo>
                <a:lnTo>
                  <a:pt x="32367" y="57118"/>
                </a:lnTo>
                <a:close/>
              </a:path>
            </a:pathLst>
          </a:custGeom>
          <a:solidFill>
            <a:srgbClr val="D3C8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893179" y="4331511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7" y="57118"/>
                </a:moveTo>
                <a:lnTo>
                  <a:pt x="24751" y="57118"/>
                </a:lnTo>
                <a:lnTo>
                  <a:pt x="21683" y="56484"/>
                </a:lnTo>
                <a:lnTo>
                  <a:pt x="21381" y="56484"/>
                </a:lnTo>
                <a:lnTo>
                  <a:pt x="0" y="32367"/>
                </a:lnTo>
                <a:lnTo>
                  <a:pt x="0" y="24751"/>
                </a:lnTo>
                <a:lnTo>
                  <a:pt x="20901" y="761"/>
                </a:lnTo>
                <a:lnTo>
                  <a:pt x="20487" y="761"/>
                </a:lnTo>
                <a:lnTo>
                  <a:pt x="24751" y="0"/>
                </a:lnTo>
                <a:lnTo>
                  <a:pt x="32367" y="0"/>
                </a:lnTo>
                <a:lnTo>
                  <a:pt x="57118" y="24751"/>
                </a:lnTo>
                <a:lnTo>
                  <a:pt x="57118" y="32367"/>
                </a:lnTo>
                <a:lnTo>
                  <a:pt x="35921" y="56484"/>
                </a:lnTo>
                <a:lnTo>
                  <a:pt x="32367" y="57118"/>
                </a:lnTo>
                <a:close/>
              </a:path>
            </a:pathLst>
          </a:custGeom>
          <a:solidFill>
            <a:srgbClr val="D3C8C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4864616" y="4950295"/>
            <a:ext cx="5969635" cy="942975"/>
            <a:chOff x="4864616" y="4950295"/>
            <a:chExt cx="5969635" cy="942975"/>
          </a:xfrm>
        </p:grpSpPr>
        <p:sp>
          <p:nvSpPr>
            <p:cNvPr id="13" name="object 13"/>
            <p:cNvSpPr/>
            <p:nvPr/>
          </p:nvSpPr>
          <p:spPr>
            <a:xfrm>
              <a:off x="4864616" y="4950295"/>
              <a:ext cx="5969635" cy="942975"/>
            </a:xfrm>
            <a:custGeom>
              <a:avLst/>
              <a:gdLst/>
              <a:ahLst/>
              <a:cxnLst/>
              <a:rect l="l" t="t" r="r" b="b"/>
              <a:pathLst>
                <a:path w="5969634" h="942975">
                  <a:moveTo>
                    <a:pt x="5950367" y="942584"/>
                  </a:moveTo>
                  <a:lnTo>
                    <a:pt x="18658" y="942584"/>
                  </a:lnTo>
                  <a:lnTo>
                    <a:pt x="15866" y="942077"/>
                  </a:lnTo>
                  <a:lnTo>
                    <a:pt x="0" y="923926"/>
                  </a:lnTo>
                  <a:lnTo>
                    <a:pt x="0" y="18658"/>
                  </a:lnTo>
                  <a:lnTo>
                    <a:pt x="15697" y="507"/>
                  </a:lnTo>
                  <a:lnTo>
                    <a:pt x="15147" y="507"/>
                  </a:lnTo>
                  <a:lnTo>
                    <a:pt x="18531" y="0"/>
                  </a:lnTo>
                  <a:lnTo>
                    <a:pt x="5950240" y="0"/>
                  </a:lnTo>
                  <a:lnTo>
                    <a:pt x="5969026" y="18658"/>
                  </a:lnTo>
                  <a:lnTo>
                    <a:pt x="5969003" y="923926"/>
                  </a:lnTo>
                  <a:lnTo>
                    <a:pt x="5953033" y="942077"/>
                  </a:lnTo>
                  <a:lnTo>
                    <a:pt x="5950367" y="942584"/>
                  </a:lnTo>
                  <a:close/>
                </a:path>
              </a:pathLst>
            </a:custGeom>
            <a:solidFill>
              <a:srgbClr val="5C34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68085" y="5227510"/>
              <a:ext cx="150031" cy="150031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4853405" y="1431682"/>
            <a:ext cx="5709285" cy="423100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114" dirty="0">
                <a:solidFill>
                  <a:srgbClr val="FFF7F5"/>
                </a:solidFill>
                <a:latin typeface="Cambria"/>
                <a:cs typeface="Cambria"/>
              </a:rPr>
              <a:t>Data</a:t>
            </a:r>
            <a:r>
              <a:rPr sz="1650" b="1" spc="80" dirty="0">
                <a:solidFill>
                  <a:srgbClr val="FFF7F5"/>
                </a:solidFill>
                <a:latin typeface="Cambria"/>
                <a:cs typeface="Cambria"/>
              </a:rPr>
              <a:t> </a:t>
            </a:r>
            <a:r>
              <a:rPr sz="1650" b="1" spc="100" dirty="0">
                <a:solidFill>
                  <a:srgbClr val="FFF7F5"/>
                </a:solidFill>
                <a:latin typeface="Cambria"/>
                <a:cs typeface="Cambria"/>
              </a:rPr>
              <a:t>Structures</a:t>
            </a:r>
            <a:r>
              <a:rPr sz="1650" b="1" spc="80" dirty="0">
                <a:solidFill>
                  <a:srgbClr val="FFF7F5"/>
                </a:solidFill>
                <a:latin typeface="Cambria"/>
                <a:cs typeface="Cambria"/>
              </a:rPr>
              <a:t> </a:t>
            </a:r>
            <a:r>
              <a:rPr sz="1650" b="1" spc="120" dirty="0">
                <a:solidFill>
                  <a:srgbClr val="FFF7F5"/>
                </a:solidFill>
                <a:latin typeface="Cambria"/>
                <a:cs typeface="Cambria"/>
              </a:rPr>
              <a:t>&amp;</a:t>
            </a:r>
            <a:r>
              <a:rPr sz="1650" b="1" spc="80" dirty="0">
                <a:solidFill>
                  <a:srgbClr val="FFF7F5"/>
                </a:solidFill>
                <a:latin typeface="Cambria"/>
                <a:cs typeface="Cambria"/>
              </a:rPr>
              <a:t> </a:t>
            </a:r>
            <a:r>
              <a:rPr sz="1650" b="1" spc="110" dirty="0">
                <a:solidFill>
                  <a:srgbClr val="FFF7F5"/>
                </a:solidFill>
                <a:latin typeface="Cambria"/>
                <a:cs typeface="Cambria"/>
              </a:rPr>
              <a:t>Algorithms</a:t>
            </a:r>
            <a:r>
              <a:rPr sz="1650" b="1" spc="80" dirty="0">
                <a:solidFill>
                  <a:srgbClr val="FFF7F5"/>
                </a:solidFill>
                <a:latin typeface="Cambria"/>
                <a:cs typeface="Cambria"/>
              </a:rPr>
              <a:t> </a:t>
            </a:r>
            <a:r>
              <a:rPr sz="1650" b="1" spc="70" dirty="0">
                <a:solidFill>
                  <a:srgbClr val="FFF7F5"/>
                </a:solidFill>
                <a:latin typeface="Cambria"/>
                <a:cs typeface="Cambria"/>
              </a:rPr>
              <a:t>Used</a:t>
            </a:r>
            <a:endParaRPr sz="1650">
              <a:latin typeface="Cambria"/>
              <a:cs typeface="Cambria"/>
            </a:endParaRPr>
          </a:p>
          <a:p>
            <a:pPr marL="286385" marR="1136015">
              <a:lnSpc>
                <a:spcPct val="161900"/>
              </a:lnSpc>
              <a:spcBef>
                <a:spcPts val="580"/>
              </a:spcBef>
            </a:pPr>
            <a:r>
              <a:rPr sz="1350" b="1" spc="75" dirty="0">
                <a:solidFill>
                  <a:srgbClr val="D3C8C4"/>
                </a:solidFill>
                <a:latin typeface="Cambria"/>
                <a:cs typeface="Cambria"/>
              </a:rPr>
              <a:t>ArrayList</a:t>
            </a:r>
            <a:r>
              <a:rPr sz="1350" b="1" spc="60" dirty="0">
                <a:solidFill>
                  <a:srgbClr val="D3C8C4"/>
                </a:solidFill>
                <a:latin typeface="Cambria"/>
                <a:cs typeface="Cambria"/>
              </a:rPr>
              <a:t> </a:t>
            </a:r>
            <a:r>
              <a:rPr sz="1350" dirty="0">
                <a:solidFill>
                  <a:srgbClr val="D3C8C4"/>
                </a:solidFill>
                <a:latin typeface="Times New Roman"/>
                <a:cs typeface="Times New Roman"/>
              </a:rPr>
              <a:t>—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14" dirty="0">
                <a:solidFill>
                  <a:srgbClr val="D3C8C4"/>
                </a:solidFill>
                <a:latin typeface="Times New Roman"/>
                <a:cs typeface="Times New Roman"/>
              </a:rPr>
              <a:t>store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40" dirty="0">
                <a:solidFill>
                  <a:srgbClr val="D3C8C4"/>
                </a:solidFill>
                <a:latin typeface="Times New Roman"/>
                <a:cs typeface="Times New Roman"/>
              </a:rPr>
              <a:t>parsed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60" dirty="0">
                <a:solidFill>
                  <a:srgbClr val="D3C8C4"/>
                </a:solidFill>
                <a:latin typeface="Times New Roman"/>
                <a:cs typeface="Times New Roman"/>
              </a:rPr>
              <a:t>log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20" dirty="0">
                <a:solidFill>
                  <a:srgbClr val="D3C8C4"/>
                </a:solidFill>
                <a:latin typeface="Times New Roman"/>
                <a:cs typeface="Times New Roman"/>
              </a:rPr>
              <a:t>records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25" dirty="0">
                <a:solidFill>
                  <a:srgbClr val="D3C8C4"/>
                </a:solidFill>
                <a:latin typeface="Times New Roman"/>
                <a:cs typeface="Times New Roman"/>
              </a:rPr>
              <a:t>in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35" dirty="0">
                <a:solidFill>
                  <a:srgbClr val="D3C8C4"/>
                </a:solidFill>
                <a:latin typeface="Times New Roman"/>
                <a:cs typeface="Times New Roman"/>
              </a:rPr>
              <a:t>order </a:t>
            </a:r>
            <a:r>
              <a:rPr sz="1350" b="1" spc="90" dirty="0">
                <a:solidFill>
                  <a:srgbClr val="D3C8C4"/>
                </a:solidFill>
                <a:latin typeface="Cambria"/>
                <a:cs typeface="Cambria"/>
              </a:rPr>
              <a:t>HashMap</a:t>
            </a:r>
            <a:r>
              <a:rPr sz="1350" b="1" spc="55" dirty="0">
                <a:solidFill>
                  <a:srgbClr val="D3C8C4"/>
                </a:solidFill>
                <a:latin typeface="Cambria"/>
                <a:cs typeface="Cambria"/>
              </a:rPr>
              <a:t> </a:t>
            </a:r>
            <a:r>
              <a:rPr sz="1350" dirty="0">
                <a:solidFill>
                  <a:srgbClr val="D3C8C4"/>
                </a:solidFill>
                <a:latin typeface="Times New Roman"/>
                <a:cs typeface="Times New Roman"/>
              </a:rPr>
              <a:t>—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30" dirty="0">
                <a:solidFill>
                  <a:srgbClr val="D3C8C4"/>
                </a:solidFill>
                <a:latin typeface="Times New Roman"/>
                <a:cs typeface="Times New Roman"/>
              </a:rPr>
              <a:t>group</a:t>
            </a:r>
            <a:r>
              <a:rPr sz="1350" spc="1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65" dirty="0">
                <a:solidFill>
                  <a:srgbClr val="D3C8C4"/>
                </a:solidFill>
                <a:latin typeface="Times New Roman"/>
                <a:cs typeface="Times New Roman"/>
              </a:rPr>
              <a:t>logs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10" dirty="0">
                <a:solidFill>
                  <a:srgbClr val="D3C8C4"/>
                </a:solidFill>
                <a:latin typeface="Times New Roman"/>
                <a:cs typeface="Times New Roman"/>
              </a:rPr>
              <a:t>by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50" dirty="0">
                <a:solidFill>
                  <a:srgbClr val="D3C8C4"/>
                </a:solidFill>
                <a:latin typeface="Times New Roman"/>
                <a:cs typeface="Times New Roman"/>
              </a:rPr>
              <a:t>IP</a:t>
            </a:r>
            <a:r>
              <a:rPr sz="1350" spc="1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D3C8C4"/>
                </a:solidFill>
                <a:latin typeface="Times New Roman"/>
                <a:cs typeface="Times New Roman"/>
              </a:rPr>
              <a:t>/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40" dirty="0">
                <a:solidFill>
                  <a:srgbClr val="D3C8C4"/>
                </a:solidFill>
                <a:latin typeface="Times New Roman"/>
                <a:cs typeface="Times New Roman"/>
              </a:rPr>
              <a:t>user</a:t>
            </a:r>
            <a:r>
              <a:rPr sz="1350" spc="1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10" dirty="0">
                <a:solidFill>
                  <a:srgbClr val="D3C8C4"/>
                </a:solidFill>
                <a:latin typeface="Times New Roman"/>
                <a:cs typeface="Times New Roman"/>
              </a:rPr>
              <a:t>for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10" dirty="0">
                <a:solidFill>
                  <a:srgbClr val="D3C8C4"/>
                </a:solidFill>
                <a:latin typeface="Times New Roman"/>
                <a:cs typeface="Times New Roman"/>
              </a:rPr>
              <a:t>quick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00" dirty="0">
                <a:solidFill>
                  <a:srgbClr val="D3C8C4"/>
                </a:solidFill>
                <a:latin typeface="Times New Roman"/>
                <a:cs typeface="Times New Roman"/>
              </a:rPr>
              <a:t>lookup </a:t>
            </a:r>
            <a:r>
              <a:rPr sz="1350" b="1" spc="85" dirty="0">
                <a:solidFill>
                  <a:srgbClr val="D3C8C4"/>
                </a:solidFill>
                <a:latin typeface="Cambria"/>
                <a:cs typeface="Cambria"/>
              </a:rPr>
              <a:t>Queue</a:t>
            </a:r>
            <a:r>
              <a:rPr sz="1350" b="1" spc="70" dirty="0">
                <a:solidFill>
                  <a:srgbClr val="D3C8C4"/>
                </a:solidFill>
                <a:latin typeface="Cambria"/>
                <a:cs typeface="Cambria"/>
              </a:rPr>
              <a:t> </a:t>
            </a:r>
            <a:r>
              <a:rPr sz="1350" dirty="0">
                <a:solidFill>
                  <a:srgbClr val="D3C8C4"/>
                </a:solidFill>
                <a:latin typeface="Times New Roman"/>
                <a:cs typeface="Times New Roman"/>
              </a:rPr>
              <a:t>—</a:t>
            </a:r>
            <a:r>
              <a:rPr sz="1350" spc="3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00" dirty="0">
                <a:solidFill>
                  <a:srgbClr val="D3C8C4"/>
                </a:solidFill>
                <a:latin typeface="Times New Roman"/>
                <a:cs typeface="Times New Roman"/>
              </a:rPr>
              <a:t>chronological</a:t>
            </a:r>
            <a:r>
              <a:rPr sz="1350" spc="3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25" dirty="0">
                <a:solidFill>
                  <a:srgbClr val="D3C8C4"/>
                </a:solidFill>
                <a:latin typeface="Times New Roman"/>
                <a:cs typeface="Times New Roman"/>
              </a:rPr>
              <a:t>event</a:t>
            </a:r>
            <a:r>
              <a:rPr sz="1350" spc="3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05" dirty="0">
                <a:solidFill>
                  <a:srgbClr val="D3C8C4"/>
                </a:solidFill>
                <a:latin typeface="Times New Roman"/>
                <a:cs typeface="Times New Roman"/>
              </a:rPr>
              <a:t>processing</a:t>
            </a:r>
            <a:r>
              <a:rPr sz="1350" spc="3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D3C8C4"/>
                </a:solidFill>
                <a:latin typeface="Times New Roman"/>
                <a:cs typeface="Times New Roman"/>
              </a:rPr>
              <a:t>(FIFO)</a:t>
            </a:r>
            <a:endParaRPr sz="135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  <a:spcBef>
                <a:spcPts val="1005"/>
              </a:spcBef>
            </a:pPr>
            <a:r>
              <a:rPr sz="1350" b="1" spc="70" dirty="0">
                <a:solidFill>
                  <a:srgbClr val="D3C8C4"/>
                </a:solidFill>
                <a:latin typeface="Cambria"/>
                <a:cs typeface="Cambria"/>
              </a:rPr>
              <a:t>Stack</a:t>
            </a:r>
            <a:r>
              <a:rPr sz="1350" b="1" spc="60" dirty="0">
                <a:solidFill>
                  <a:srgbClr val="D3C8C4"/>
                </a:solidFill>
                <a:latin typeface="Cambria"/>
                <a:cs typeface="Cambria"/>
              </a:rPr>
              <a:t> </a:t>
            </a:r>
            <a:r>
              <a:rPr sz="1350" dirty="0">
                <a:solidFill>
                  <a:srgbClr val="D3C8C4"/>
                </a:solidFill>
                <a:latin typeface="Times New Roman"/>
                <a:cs typeface="Times New Roman"/>
              </a:rPr>
              <a:t>—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20" dirty="0">
                <a:solidFill>
                  <a:srgbClr val="D3C8C4"/>
                </a:solidFill>
                <a:latin typeface="Times New Roman"/>
                <a:cs typeface="Times New Roman"/>
              </a:rPr>
              <a:t>track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95" dirty="0">
                <a:solidFill>
                  <a:srgbClr val="D3C8C4"/>
                </a:solidFill>
                <a:latin typeface="Times New Roman"/>
                <a:cs typeface="Times New Roman"/>
              </a:rPr>
              <a:t>active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10" dirty="0">
                <a:solidFill>
                  <a:srgbClr val="D3C8C4"/>
                </a:solidFill>
                <a:latin typeface="Times New Roman"/>
                <a:cs typeface="Times New Roman"/>
              </a:rPr>
              <a:t>attack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45" dirty="0">
                <a:solidFill>
                  <a:srgbClr val="D3C8C4"/>
                </a:solidFill>
                <a:latin typeface="Times New Roman"/>
                <a:cs typeface="Times New Roman"/>
              </a:rPr>
              <a:t>path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10" dirty="0">
                <a:solidFill>
                  <a:srgbClr val="D3C8C4"/>
                </a:solidFill>
                <a:latin typeface="Times New Roman"/>
                <a:cs typeface="Times New Roman"/>
              </a:rPr>
              <a:t>while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14" dirty="0">
                <a:solidFill>
                  <a:srgbClr val="D3C8C4"/>
                </a:solidFill>
                <a:latin typeface="Times New Roman"/>
                <a:cs typeface="Times New Roman"/>
              </a:rPr>
              <a:t>reconstructing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10" dirty="0">
                <a:solidFill>
                  <a:srgbClr val="D3C8C4"/>
                </a:solidFill>
                <a:latin typeface="Times New Roman"/>
                <a:cs typeface="Times New Roman"/>
              </a:rPr>
              <a:t>sequences</a:t>
            </a:r>
            <a:endParaRPr sz="135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  <a:spcBef>
                <a:spcPts val="1005"/>
              </a:spcBef>
            </a:pPr>
            <a:r>
              <a:rPr sz="1350" b="1" spc="95" dirty="0">
                <a:solidFill>
                  <a:srgbClr val="D3C8C4"/>
                </a:solidFill>
                <a:latin typeface="Cambria"/>
                <a:cs typeface="Cambria"/>
              </a:rPr>
              <a:t>Graph</a:t>
            </a:r>
            <a:r>
              <a:rPr sz="1350" b="1" spc="55" dirty="0">
                <a:solidFill>
                  <a:srgbClr val="D3C8C4"/>
                </a:solidFill>
                <a:latin typeface="Cambria"/>
                <a:cs typeface="Cambria"/>
              </a:rPr>
              <a:t> </a:t>
            </a:r>
            <a:r>
              <a:rPr sz="1350" dirty="0">
                <a:solidFill>
                  <a:srgbClr val="D3C8C4"/>
                </a:solidFill>
                <a:latin typeface="Times New Roman"/>
                <a:cs typeface="Times New Roman"/>
              </a:rPr>
              <a:t>—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25" dirty="0">
                <a:solidFill>
                  <a:srgbClr val="D3C8C4"/>
                </a:solidFill>
                <a:latin typeface="Times New Roman"/>
                <a:cs typeface="Times New Roman"/>
              </a:rPr>
              <a:t>nodes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D3C8C4"/>
                </a:solidFill>
                <a:latin typeface="Times New Roman"/>
                <a:cs typeface="Times New Roman"/>
              </a:rPr>
              <a:t>=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95" dirty="0">
                <a:solidFill>
                  <a:srgbClr val="D3C8C4"/>
                </a:solidFill>
                <a:latin typeface="Times New Roman"/>
                <a:cs typeface="Times New Roman"/>
              </a:rPr>
              <a:t>systems;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00" dirty="0">
                <a:solidFill>
                  <a:srgbClr val="D3C8C4"/>
                </a:solidFill>
                <a:latin typeface="Times New Roman"/>
                <a:cs typeface="Times New Roman"/>
              </a:rPr>
              <a:t>edges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D3C8C4"/>
                </a:solidFill>
                <a:latin typeface="Times New Roman"/>
                <a:cs typeface="Times New Roman"/>
              </a:rPr>
              <a:t>=</a:t>
            </a:r>
            <a:r>
              <a:rPr sz="1350" spc="1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25" dirty="0">
                <a:solidFill>
                  <a:srgbClr val="D3C8C4"/>
                </a:solidFill>
                <a:latin typeface="Times New Roman"/>
                <a:cs typeface="Times New Roman"/>
              </a:rPr>
              <a:t>observed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05" dirty="0">
                <a:solidFill>
                  <a:srgbClr val="D3C8C4"/>
                </a:solidFill>
                <a:latin typeface="Times New Roman"/>
                <a:cs typeface="Times New Roman"/>
              </a:rPr>
              <a:t>interactions</a:t>
            </a:r>
            <a:endParaRPr sz="135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  <a:spcBef>
                <a:spcPts val="1000"/>
              </a:spcBef>
            </a:pPr>
            <a:r>
              <a:rPr sz="1350" b="1" spc="65" dirty="0">
                <a:solidFill>
                  <a:srgbClr val="D3C8C4"/>
                </a:solidFill>
                <a:latin typeface="Cambria"/>
                <a:cs typeface="Cambria"/>
              </a:rPr>
              <a:t>BFS</a:t>
            </a:r>
            <a:r>
              <a:rPr sz="1350" b="1" spc="60" dirty="0">
                <a:solidFill>
                  <a:srgbClr val="D3C8C4"/>
                </a:solidFill>
                <a:latin typeface="Cambria"/>
                <a:cs typeface="Cambria"/>
              </a:rPr>
              <a:t> </a:t>
            </a:r>
            <a:r>
              <a:rPr sz="1350" b="1" spc="-305" dirty="0">
                <a:solidFill>
                  <a:srgbClr val="D3C8C4"/>
                </a:solidFill>
                <a:latin typeface="Cambria"/>
                <a:cs typeface="Cambria"/>
              </a:rPr>
              <a:t>/</a:t>
            </a:r>
            <a:r>
              <a:rPr sz="1350" b="1" spc="60" dirty="0">
                <a:solidFill>
                  <a:srgbClr val="D3C8C4"/>
                </a:solidFill>
                <a:latin typeface="Cambria"/>
                <a:cs typeface="Cambria"/>
              </a:rPr>
              <a:t> </a:t>
            </a:r>
            <a:r>
              <a:rPr sz="1350" b="1" spc="85" dirty="0">
                <a:solidFill>
                  <a:srgbClr val="D3C8C4"/>
                </a:solidFill>
                <a:latin typeface="Cambria"/>
                <a:cs typeface="Cambria"/>
              </a:rPr>
              <a:t>DFS</a:t>
            </a:r>
            <a:r>
              <a:rPr sz="1350" b="1" spc="60" dirty="0">
                <a:solidFill>
                  <a:srgbClr val="D3C8C4"/>
                </a:solidFill>
                <a:latin typeface="Cambria"/>
                <a:cs typeface="Cambria"/>
              </a:rPr>
              <a:t> </a:t>
            </a:r>
            <a:r>
              <a:rPr sz="1350" dirty="0">
                <a:solidFill>
                  <a:srgbClr val="D3C8C4"/>
                </a:solidFill>
                <a:latin typeface="Times New Roman"/>
                <a:cs typeface="Times New Roman"/>
              </a:rPr>
              <a:t>—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25" dirty="0">
                <a:solidFill>
                  <a:srgbClr val="D3C8C4"/>
                </a:solidFill>
                <a:latin typeface="Times New Roman"/>
                <a:cs typeface="Times New Roman"/>
              </a:rPr>
              <a:t>traverse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10" dirty="0">
                <a:solidFill>
                  <a:srgbClr val="D3C8C4"/>
                </a:solidFill>
                <a:latin typeface="Times New Roman"/>
                <a:cs typeface="Times New Roman"/>
              </a:rPr>
              <a:t>attack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40" dirty="0">
                <a:solidFill>
                  <a:srgbClr val="D3C8C4"/>
                </a:solidFill>
                <a:latin typeface="Times New Roman"/>
                <a:cs typeface="Times New Roman"/>
              </a:rPr>
              <a:t>graph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95" dirty="0">
                <a:solidFill>
                  <a:srgbClr val="D3C8C4"/>
                </a:solidFill>
                <a:latin typeface="Times New Roman"/>
                <a:cs typeface="Times New Roman"/>
              </a:rPr>
              <a:t>to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05" dirty="0">
                <a:solidFill>
                  <a:srgbClr val="D3C8C4"/>
                </a:solidFill>
                <a:latin typeface="Times New Roman"/>
                <a:cs typeface="Times New Roman"/>
              </a:rPr>
              <a:t>find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30" dirty="0">
                <a:solidFill>
                  <a:srgbClr val="D3C8C4"/>
                </a:solidFill>
                <a:latin typeface="Times New Roman"/>
                <a:cs typeface="Times New Roman"/>
              </a:rPr>
              <a:t>paths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65" dirty="0">
                <a:solidFill>
                  <a:srgbClr val="D3C8C4"/>
                </a:solidFill>
                <a:latin typeface="Times New Roman"/>
                <a:cs typeface="Times New Roman"/>
              </a:rPr>
              <a:t>and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00" dirty="0">
                <a:solidFill>
                  <a:srgbClr val="D3C8C4"/>
                </a:solidFill>
                <a:latin typeface="Times New Roman"/>
                <a:cs typeface="Times New Roman"/>
              </a:rPr>
              <a:t>reachability</a:t>
            </a:r>
            <a:endParaRPr sz="135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  <a:spcBef>
                <a:spcPts val="1005"/>
              </a:spcBef>
            </a:pPr>
            <a:r>
              <a:rPr sz="1350" b="1" spc="70" dirty="0">
                <a:solidFill>
                  <a:srgbClr val="D3C8C4"/>
                </a:solidFill>
                <a:latin typeface="Cambria"/>
                <a:cs typeface="Cambria"/>
              </a:rPr>
              <a:t>Searching</a:t>
            </a:r>
            <a:r>
              <a:rPr sz="1350" b="1" spc="60" dirty="0">
                <a:solidFill>
                  <a:srgbClr val="D3C8C4"/>
                </a:solidFill>
                <a:latin typeface="Cambria"/>
                <a:cs typeface="Cambria"/>
              </a:rPr>
              <a:t> </a:t>
            </a:r>
            <a:r>
              <a:rPr sz="1350" dirty="0">
                <a:solidFill>
                  <a:srgbClr val="D3C8C4"/>
                </a:solidFill>
                <a:latin typeface="Times New Roman"/>
                <a:cs typeface="Times New Roman"/>
              </a:rPr>
              <a:t>—</a:t>
            </a:r>
            <a:r>
              <a:rPr sz="1350" spc="3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05" dirty="0">
                <a:solidFill>
                  <a:srgbClr val="D3C8C4"/>
                </a:solidFill>
                <a:latin typeface="Times New Roman"/>
                <a:cs typeface="Times New Roman"/>
              </a:rPr>
              <a:t>detect</a:t>
            </a:r>
            <a:r>
              <a:rPr sz="1350" spc="3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25" dirty="0">
                <a:solidFill>
                  <a:srgbClr val="D3C8C4"/>
                </a:solidFill>
                <a:latin typeface="Times New Roman"/>
                <a:cs typeface="Times New Roman"/>
              </a:rPr>
              <a:t>predefined</a:t>
            </a:r>
            <a:r>
              <a:rPr sz="1350" spc="3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20" dirty="0">
                <a:solidFill>
                  <a:srgbClr val="D3C8C4"/>
                </a:solidFill>
                <a:latin typeface="Times New Roman"/>
                <a:cs typeface="Times New Roman"/>
              </a:rPr>
              <a:t>signatures/patterns</a:t>
            </a:r>
            <a:r>
              <a:rPr sz="1350" spc="3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25" dirty="0">
                <a:solidFill>
                  <a:srgbClr val="D3C8C4"/>
                </a:solidFill>
                <a:latin typeface="Times New Roman"/>
                <a:cs typeface="Times New Roman"/>
              </a:rPr>
              <a:t>in</a:t>
            </a:r>
            <a:r>
              <a:rPr sz="1350" spc="3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45" dirty="0">
                <a:solidFill>
                  <a:srgbClr val="D3C8C4"/>
                </a:solidFill>
                <a:latin typeface="Times New Roman"/>
                <a:cs typeface="Times New Roman"/>
              </a:rPr>
              <a:t>logs</a:t>
            </a:r>
            <a:endParaRPr sz="1350">
              <a:latin typeface="Times New Roman"/>
              <a:cs typeface="Times New Roman"/>
            </a:endParaRPr>
          </a:p>
          <a:p>
            <a:pPr marL="286385" marR="226695">
              <a:lnSpc>
                <a:spcPct val="124900"/>
              </a:lnSpc>
              <a:spcBef>
                <a:spcPts val="600"/>
              </a:spcBef>
            </a:pPr>
            <a:r>
              <a:rPr sz="1350" b="1" spc="95" dirty="0">
                <a:solidFill>
                  <a:srgbClr val="D3C8C4"/>
                </a:solidFill>
                <a:latin typeface="Cambria"/>
                <a:cs typeface="Cambria"/>
              </a:rPr>
              <a:t>Graph</a:t>
            </a:r>
            <a:r>
              <a:rPr sz="1350" b="1" spc="65" dirty="0">
                <a:solidFill>
                  <a:srgbClr val="D3C8C4"/>
                </a:solidFill>
                <a:latin typeface="Cambria"/>
                <a:cs typeface="Cambria"/>
              </a:rPr>
              <a:t> </a:t>
            </a:r>
            <a:r>
              <a:rPr sz="1350" b="1" spc="55" dirty="0">
                <a:solidFill>
                  <a:srgbClr val="D3C8C4"/>
                </a:solidFill>
                <a:latin typeface="Cambria"/>
                <a:cs typeface="Cambria"/>
              </a:rPr>
              <a:t>analysis</a:t>
            </a:r>
            <a:r>
              <a:rPr sz="1350" b="1" spc="70" dirty="0">
                <a:solidFill>
                  <a:srgbClr val="D3C8C4"/>
                </a:solidFill>
                <a:latin typeface="Cambria"/>
                <a:cs typeface="Cambria"/>
              </a:rPr>
              <a:t> </a:t>
            </a:r>
            <a:r>
              <a:rPr sz="1350" dirty="0">
                <a:solidFill>
                  <a:srgbClr val="D3C8C4"/>
                </a:solidFill>
                <a:latin typeface="Times New Roman"/>
                <a:cs typeface="Times New Roman"/>
              </a:rPr>
              <a:t>—</a:t>
            </a:r>
            <a:r>
              <a:rPr sz="1350" spc="3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95" dirty="0">
                <a:solidFill>
                  <a:srgbClr val="D3C8C4"/>
                </a:solidFill>
                <a:latin typeface="Times New Roman"/>
                <a:cs typeface="Times New Roman"/>
              </a:rPr>
              <a:t>identify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00" dirty="0">
                <a:solidFill>
                  <a:srgbClr val="D3C8C4"/>
                </a:solidFill>
                <a:latin typeface="Times New Roman"/>
                <a:cs typeface="Times New Roman"/>
              </a:rPr>
              <a:t>high-</a:t>
            </a:r>
            <a:r>
              <a:rPr sz="1350" spc="105" dirty="0">
                <a:solidFill>
                  <a:srgbClr val="D3C8C4"/>
                </a:solidFill>
                <a:latin typeface="Times New Roman"/>
                <a:cs typeface="Times New Roman"/>
              </a:rPr>
              <a:t>degree</a:t>
            </a:r>
            <a:r>
              <a:rPr sz="1350" spc="3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40" dirty="0">
                <a:solidFill>
                  <a:srgbClr val="D3C8C4"/>
                </a:solidFill>
                <a:latin typeface="Times New Roman"/>
                <a:cs typeface="Times New Roman"/>
              </a:rPr>
              <a:t>or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10" dirty="0">
                <a:solidFill>
                  <a:srgbClr val="D3C8C4"/>
                </a:solidFill>
                <a:latin typeface="Times New Roman"/>
                <a:cs typeface="Times New Roman"/>
              </a:rPr>
              <a:t>articulation</a:t>
            </a:r>
            <a:r>
              <a:rPr sz="1350" spc="3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25" dirty="0">
                <a:solidFill>
                  <a:srgbClr val="D3C8C4"/>
                </a:solidFill>
                <a:latin typeface="Times New Roman"/>
                <a:cs typeface="Times New Roman"/>
              </a:rPr>
              <a:t>nodes</a:t>
            </a:r>
            <a:r>
              <a:rPr sz="1350" spc="3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90" dirty="0">
                <a:solidFill>
                  <a:srgbClr val="D3C8C4"/>
                </a:solidFill>
                <a:latin typeface="Times New Roman"/>
                <a:cs typeface="Times New Roman"/>
              </a:rPr>
              <a:t>as </a:t>
            </a:r>
            <a:r>
              <a:rPr sz="1350" spc="114" dirty="0">
                <a:solidFill>
                  <a:srgbClr val="D3C8C4"/>
                </a:solidFill>
                <a:latin typeface="Times New Roman"/>
                <a:cs typeface="Times New Roman"/>
              </a:rPr>
              <a:t>choke</a:t>
            </a:r>
            <a:r>
              <a:rPr sz="1350" spc="1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05" dirty="0">
                <a:solidFill>
                  <a:srgbClr val="D3C8C4"/>
                </a:solidFill>
                <a:latin typeface="Times New Roman"/>
                <a:cs typeface="Times New Roman"/>
              </a:rPr>
              <a:t>points</a:t>
            </a: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350">
              <a:latin typeface="Times New Roman"/>
              <a:cs typeface="Times New Roman"/>
            </a:endParaRPr>
          </a:p>
          <a:p>
            <a:pPr marL="569595" marR="5080">
              <a:lnSpc>
                <a:spcPct val="129600"/>
              </a:lnSpc>
            </a:pPr>
            <a:r>
              <a:rPr sz="1350" spc="114" dirty="0">
                <a:solidFill>
                  <a:srgbClr val="FFFFFF"/>
                </a:solidFill>
                <a:latin typeface="Times New Roman"/>
                <a:cs typeface="Times New Roman"/>
              </a:rPr>
              <a:t>Example</a:t>
            </a:r>
            <a:r>
              <a:rPr sz="135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spc="114" dirty="0">
                <a:solidFill>
                  <a:srgbClr val="FFFFFF"/>
                </a:solidFill>
                <a:latin typeface="Times New Roman"/>
                <a:cs typeface="Times New Roman"/>
              </a:rPr>
              <a:t>choke</a:t>
            </a:r>
            <a:r>
              <a:rPr sz="135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spc="95" dirty="0">
                <a:solidFill>
                  <a:srgbClr val="FFFFFF"/>
                </a:solidFill>
                <a:latin typeface="Times New Roman"/>
                <a:cs typeface="Times New Roman"/>
              </a:rPr>
              <a:t>point:</a:t>
            </a:r>
            <a:r>
              <a:rPr sz="135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spc="90" dirty="0">
                <a:solidFill>
                  <a:srgbClr val="FFFFFF"/>
                </a:solidFill>
                <a:latin typeface="Times New Roman"/>
                <a:cs typeface="Times New Roman"/>
              </a:rPr>
              <a:t>Application</a:t>
            </a:r>
            <a:r>
              <a:rPr sz="135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spc="114" dirty="0">
                <a:solidFill>
                  <a:srgbClr val="FFFFFF"/>
                </a:solidFill>
                <a:latin typeface="Times New Roman"/>
                <a:cs typeface="Times New Roman"/>
              </a:rPr>
              <a:t>Server</a:t>
            </a:r>
            <a:r>
              <a:rPr sz="135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FFFF"/>
                </a:solidFill>
                <a:latin typeface="Times New Roman"/>
                <a:cs typeface="Times New Roman"/>
              </a:rPr>
              <a:t>—</a:t>
            </a:r>
            <a:r>
              <a:rPr sz="135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spc="90" dirty="0">
                <a:solidFill>
                  <a:srgbClr val="FFFFFF"/>
                </a:solidFill>
                <a:latin typeface="Times New Roman"/>
                <a:cs typeface="Times New Roman"/>
              </a:rPr>
              <a:t>single</a:t>
            </a:r>
            <a:r>
              <a:rPr sz="135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spc="120" dirty="0">
                <a:solidFill>
                  <a:srgbClr val="FFFFFF"/>
                </a:solidFill>
                <a:latin typeface="Times New Roman"/>
                <a:cs typeface="Times New Roman"/>
              </a:rPr>
              <a:t>point</a:t>
            </a:r>
            <a:r>
              <a:rPr sz="135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spc="100" dirty="0">
                <a:solidFill>
                  <a:srgbClr val="FFFFFF"/>
                </a:solidFill>
                <a:latin typeface="Times New Roman"/>
                <a:cs typeface="Times New Roman"/>
              </a:rPr>
              <a:t>that,</a:t>
            </a:r>
            <a:r>
              <a:rPr sz="135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spc="-25" dirty="0">
                <a:solidFill>
                  <a:srgbClr val="FFFFFF"/>
                </a:solidFill>
                <a:latin typeface="Times New Roman"/>
                <a:cs typeface="Times New Roman"/>
              </a:rPr>
              <a:t>if </a:t>
            </a:r>
            <a:r>
              <a:rPr sz="1350" spc="120" dirty="0">
                <a:solidFill>
                  <a:srgbClr val="FFFFFF"/>
                </a:solidFill>
                <a:latin typeface="Times New Roman"/>
                <a:cs typeface="Times New Roman"/>
              </a:rPr>
              <a:t>monitored,</a:t>
            </a:r>
            <a:r>
              <a:rPr sz="135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spc="110" dirty="0">
                <a:solidFill>
                  <a:srgbClr val="FFFFFF"/>
                </a:solidFill>
                <a:latin typeface="Times New Roman"/>
                <a:cs typeface="Times New Roman"/>
              </a:rPr>
              <a:t>reveals</a:t>
            </a:r>
            <a:r>
              <a:rPr sz="135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spc="114" dirty="0">
                <a:solidFill>
                  <a:srgbClr val="FFFFFF"/>
                </a:solidFill>
                <a:latin typeface="Times New Roman"/>
                <a:cs typeface="Times New Roman"/>
              </a:rPr>
              <a:t>lateral</a:t>
            </a:r>
            <a:r>
              <a:rPr sz="135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spc="145" dirty="0">
                <a:solidFill>
                  <a:srgbClr val="FFFFFF"/>
                </a:solidFill>
                <a:latin typeface="Times New Roman"/>
                <a:cs typeface="Times New Roman"/>
              </a:rPr>
              <a:t>movement</a:t>
            </a:r>
            <a:r>
              <a:rPr sz="135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spc="95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35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spc="85" dirty="0">
                <a:solidFill>
                  <a:srgbClr val="FFFFFF"/>
                </a:solidFill>
                <a:latin typeface="Times New Roman"/>
                <a:cs typeface="Times New Roman"/>
              </a:rPr>
              <a:t>Database.</a:t>
            </a:r>
            <a:endParaRPr sz="1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29458" y="6438595"/>
                </a:moveTo>
                <a:lnTo>
                  <a:pt x="0" y="6438595"/>
                </a:lnTo>
                <a:lnTo>
                  <a:pt x="0" y="0"/>
                </a:lnTo>
                <a:lnTo>
                  <a:pt x="11429458" y="0"/>
                </a:lnTo>
                <a:lnTo>
                  <a:pt x="11429458" y="6438595"/>
                </a:lnTo>
                <a:close/>
              </a:path>
            </a:pathLst>
          </a:custGeom>
          <a:solidFill>
            <a:srgbClr val="40323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284218" cy="6438595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73393" y="1867912"/>
            <a:ext cx="243141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75" dirty="0"/>
              <a:t>Conclusion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 indent="44450">
              <a:lnSpc>
                <a:spcPct val="130600"/>
              </a:lnSpc>
              <a:spcBef>
                <a:spcPts val="175"/>
              </a:spcBef>
              <a:tabLst>
                <a:tab pos="550545" algn="l"/>
                <a:tab pos="1295400" algn="l"/>
                <a:tab pos="2317115" algn="l"/>
                <a:tab pos="3064510" algn="l"/>
                <a:tab pos="4053840" algn="l"/>
                <a:tab pos="4687570" algn="l"/>
                <a:tab pos="5186045" algn="l"/>
              </a:tabLst>
            </a:pPr>
            <a:r>
              <a:rPr spc="110" dirty="0"/>
              <a:t>TheThreat</a:t>
            </a:r>
            <a:r>
              <a:rPr spc="25" dirty="0"/>
              <a:t> </a:t>
            </a:r>
            <a:r>
              <a:rPr spc="95" dirty="0"/>
              <a:t>Intelligence</a:t>
            </a:r>
            <a:r>
              <a:rPr spc="25" dirty="0"/>
              <a:t> </a:t>
            </a:r>
            <a:r>
              <a:rPr spc="50" dirty="0"/>
              <a:t>Kill-</a:t>
            </a:r>
            <a:r>
              <a:rPr spc="60" dirty="0"/>
              <a:t>Chain</a:t>
            </a:r>
            <a:r>
              <a:rPr spc="30" dirty="0"/>
              <a:t> </a:t>
            </a:r>
            <a:r>
              <a:rPr spc="105" dirty="0"/>
              <a:t>Correlation</a:t>
            </a:r>
            <a:r>
              <a:rPr spc="25" dirty="0"/>
              <a:t> </a:t>
            </a:r>
            <a:r>
              <a:rPr spc="100" dirty="0"/>
              <a:t>Engine</a:t>
            </a:r>
            <a:r>
              <a:rPr spc="25" dirty="0"/>
              <a:t> </a:t>
            </a:r>
            <a:r>
              <a:rPr spc="135" dirty="0"/>
              <a:t>demonstrates</a:t>
            </a:r>
            <a:r>
              <a:rPr spc="30" dirty="0"/>
              <a:t> </a:t>
            </a:r>
            <a:r>
              <a:rPr spc="105" dirty="0"/>
              <a:t>a </a:t>
            </a:r>
            <a:r>
              <a:rPr spc="120" dirty="0"/>
              <a:t>structured,</a:t>
            </a:r>
            <a:r>
              <a:rPr spc="490" dirty="0"/>
              <a:t> </a:t>
            </a:r>
            <a:r>
              <a:rPr spc="85" dirty="0"/>
              <a:t>DSA-</a:t>
            </a:r>
            <a:r>
              <a:rPr spc="60" dirty="0"/>
              <a:t>driven</a:t>
            </a:r>
            <a:r>
              <a:rPr spc="495" dirty="0"/>
              <a:t> </a:t>
            </a:r>
            <a:r>
              <a:rPr spc="140" dirty="0"/>
              <a:t>approach</a:t>
            </a:r>
            <a:r>
              <a:rPr spc="490" dirty="0"/>
              <a:t> </a:t>
            </a:r>
            <a:r>
              <a:rPr spc="95" dirty="0"/>
              <a:t>to</a:t>
            </a:r>
            <a:r>
              <a:rPr spc="495" dirty="0"/>
              <a:t> </a:t>
            </a:r>
            <a:r>
              <a:rPr spc="130" dirty="0"/>
              <a:t>turning</a:t>
            </a:r>
            <a:r>
              <a:rPr spc="495" dirty="0"/>
              <a:t> </a:t>
            </a:r>
            <a:r>
              <a:rPr spc="105" dirty="0"/>
              <a:t>noisy</a:t>
            </a:r>
            <a:r>
              <a:rPr spc="490" dirty="0"/>
              <a:t> </a:t>
            </a:r>
            <a:r>
              <a:rPr spc="105" dirty="0"/>
              <a:t>security</a:t>
            </a:r>
            <a:r>
              <a:rPr spc="495" dirty="0"/>
              <a:t> </a:t>
            </a:r>
            <a:r>
              <a:rPr spc="65" dirty="0"/>
              <a:t>logs</a:t>
            </a:r>
            <a:r>
              <a:rPr spc="495" dirty="0"/>
              <a:t> </a:t>
            </a:r>
            <a:r>
              <a:rPr spc="90" dirty="0"/>
              <a:t>into </a:t>
            </a:r>
            <a:r>
              <a:rPr spc="120" dirty="0"/>
              <a:t>meaningful</a:t>
            </a:r>
            <a:r>
              <a:rPr spc="175" dirty="0"/>
              <a:t> </a:t>
            </a:r>
            <a:r>
              <a:rPr spc="135" dirty="0"/>
              <a:t>threat</a:t>
            </a:r>
            <a:r>
              <a:rPr spc="180" dirty="0"/>
              <a:t> </a:t>
            </a:r>
            <a:r>
              <a:rPr spc="85" dirty="0"/>
              <a:t>intelligence.</a:t>
            </a:r>
            <a:r>
              <a:rPr spc="180" dirty="0"/>
              <a:t> </a:t>
            </a:r>
            <a:r>
              <a:rPr spc="135" dirty="0"/>
              <a:t>Implemented</a:t>
            </a:r>
            <a:r>
              <a:rPr spc="180" dirty="0"/>
              <a:t> </a:t>
            </a:r>
            <a:r>
              <a:rPr spc="125" dirty="0"/>
              <a:t>in</a:t>
            </a:r>
            <a:r>
              <a:rPr spc="180" dirty="0"/>
              <a:t> </a:t>
            </a:r>
            <a:r>
              <a:rPr spc="75" dirty="0"/>
              <a:t>Java,</a:t>
            </a:r>
            <a:r>
              <a:rPr spc="180" dirty="0"/>
              <a:t> </a:t>
            </a:r>
            <a:r>
              <a:rPr spc="130" dirty="0"/>
              <a:t>the</a:t>
            </a:r>
            <a:r>
              <a:rPr spc="180" dirty="0"/>
              <a:t> </a:t>
            </a:r>
            <a:r>
              <a:rPr spc="110" dirty="0"/>
              <a:t>system</a:t>
            </a:r>
            <a:r>
              <a:rPr spc="180" dirty="0"/>
              <a:t> </a:t>
            </a:r>
            <a:r>
              <a:rPr spc="114" dirty="0"/>
              <a:t>parses </a:t>
            </a:r>
            <a:r>
              <a:rPr spc="40" dirty="0"/>
              <a:t>logs,</a:t>
            </a:r>
            <a:r>
              <a:rPr dirty="0"/>
              <a:t>	</a:t>
            </a:r>
            <a:r>
              <a:rPr spc="90" dirty="0"/>
              <a:t>detects</a:t>
            </a:r>
            <a:r>
              <a:rPr dirty="0"/>
              <a:t>	</a:t>
            </a:r>
            <a:r>
              <a:rPr spc="90" dirty="0"/>
              <a:t>suspicious</a:t>
            </a:r>
            <a:r>
              <a:rPr dirty="0"/>
              <a:t>	</a:t>
            </a:r>
            <a:r>
              <a:rPr spc="90" dirty="0"/>
              <a:t>events,</a:t>
            </a:r>
            <a:r>
              <a:rPr dirty="0"/>
              <a:t>	</a:t>
            </a:r>
            <a:r>
              <a:rPr spc="105" dirty="0"/>
              <a:t>correlates</a:t>
            </a:r>
            <a:r>
              <a:rPr dirty="0"/>
              <a:t>	</a:t>
            </a:r>
            <a:r>
              <a:rPr spc="100" dirty="0"/>
              <a:t>alerts</a:t>
            </a:r>
            <a:r>
              <a:rPr dirty="0"/>
              <a:t>	</a:t>
            </a:r>
            <a:r>
              <a:rPr spc="90" dirty="0"/>
              <a:t>into</a:t>
            </a:r>
            <a:r>
              <a:rPr dirty="0"/>
              <a:t>	</a:t>
            </a:r>
            <a:r>
              <a:rPr spc="85" dirty="0"/>
              <a:t>incidents, </a:t>
            </a:r>
            <a:r>
              <a:rPr spc="114" dirty="0"/>
              <a:t>reconstructs</a:t>
            </a:r>
            <a:r>
              <a:rPr spc="250" dirty="0"/>
              <a:t> </a:t>
            </a:r>
            <a:r>
              <a:rPr spc="60" dirty="0"/>
              <a:t>kill</a:t>
            </a:r>
            <a:r>
              <a:rPr spc="250" dirty="0"/>
              <a:t> </a:t>
            </a:r>
            <a:r>
              <a:rPr spc="100" dirty="0"/>
              <a:t>chains,</a:t>
            </a:r>
            <a:r>
              <a:rPr spc="250" dirty="0"/>
              <a:t> </a:t>
            </a:r>
            <a:r>
              <a:rPr spc="165" dirty="0"/>
              <a:t>and</a:t>
            </a:r>
            <a:r>
              <a:rPr spc="250" dirty="0"/>
              <a:t> </a:t>
            </a:r>
            <a:r>
              <a:rPr spc="114" dirty="0"/>
              <a:t>models</a:t>
            </a:r>
            <a:r>
              <a:rPr spc="254" dirty="0"/>
              <a:t> </a:t>
            </a:r>
            <a:r>
              <a:rPr spc="110" dirty="0"/>
              <a:t>attack</a:t>
            </a:r>
            <a:r>
              <a:rPr spc="250" dirty="0"/>
              <a:t> </a:t>
            </a:r>
            <a:r>
              <a:rPr spc="130" dirty="0"/>
              <a:t>paths</a:t>
            </a:r>
            <a:r>
              <a:rPr spc="250" dirty="0"/>
              <a:t> </a:t>
            </a:r>
            <a:r>
              <a:rPr spc="114" dirty="0"/>
              <a:t>as</a:t>
            </a:r>
            <a:r>
              <a:rPr spc="250" dirty="0"/>
              <a:t> </a:t>
            </a:r>
            <a:r>
              <a:rPr spc="130" dirty="0"/>
              <a:t>graphs</a:t>
            </a:r>
            <a:r>
              <a:rPr spc="254" dirty="0"/>
              <a:t> </a:t>
            </a:r>
            <a:r>
              <a:rPr spc="95" dirty="0"/>
              <a:t>to</a:t>
            </a:r>
            <a:r>
              <a:rPr spc="250" dirty="0"/>
              <a:t> </a:t>
            </a:r>
            <a:r>
              <a:rPr spc="85" dirty="0"/>
              <a:t>identify critical</a:t>
            </a:r>
            <a:r>
              <a:rPr spc="285" dirty="0"/>
              <a:t> </a:t>
            </a:r>
            <a:r>
              <a:rPr spc="114" dirty="0"/>
              <a:t>choke</a:t>
            </a:r>
            <a:r>
              <a:rPr spc="290" dirty="0"/>
              <a:t> </a:t>
            </a:r>
            <a:r>
              <a:rPr spc="114" dirty="0"/>
              <a:t>points</a:t>
            </a:r>
            <a:r>
              <a:rPr spc="290" dirty="0"/>
              <a:t> </a:t>
            </a:r>
            <a:r>
              <a:rPr spc="165" dirty="0"/>
              <a:t>and</a:t>
            </a:r>
            <a:r>
              <a:rPr spc="285" dirty="0"/>
              <a:t> </a:t>
            </a:r>
            <a:r>
              <a:rPr spc="90" dirty="0"/>
              <a:t>efficient</a:t>
            </a:r>
            <a:r>
              <a:rPr spc="290" dirty="0"/>
              <a:t> </a:t>
            </a:r>
            <a:r>
              <a:rPr spc="125" dirty="0"/>
              <a:t>monitoring</a:t>
            </a:r>
            <a:r>
              <a:rPr spc="290" dirty="0"/>
              <a:t> </a:t>
            </a:r>
            <a:r>
              <a:rPr spc="85" dirty="0"/>
              <a:t>locations.</a:t>
            </a:r>
            <a:r>
              <a:rPr spc="290" dirty="0"/>
              <a:t> </a:t>
            </a:r>
            <a:r>
              <a:rPr spc="95" dirty="0"/>
              <a:t>The</a:t>
            </a:r>
            <a:r>
              <a:rPr spc="285" dirty="0"/>
              <a:t> </a:t>
            </a:r>
            <a:r>
              <a:rPr spc="105" dirty="0"/>
              <a:t>project</a:t>
            </a:r>
            <a:r>
              <a:rPr spc="290" dirty="0"/>
              <a:t> </a:t>
            </a:r>
            <a:r>
              <a:rPr spc="40" dirty="0"/>
              <a:t>is </a:t>
            </a:r>
            <a:r>
              <a:rPr spc="110" dirty="0"/>
              <a:t>suitable</a:t>
            </a:r>
            <a:r>
              <a:rPr spc="20" dirty="0"/>
              <a:t> </a:t>
            </a:r>
            <a:r>
              <a:rPr spc="110" dirty="0"/>
              <a:t>for</a:t>
            </a:r>
            <a:r>
              <a:rPr spc="25" dirty="0"/>
              <a:t> </a:t>
            </a:r>
            <a:r>
              <a:rPr spc="120" dirty="0"/>
              <a:t>academic</a:t>
            </a:r>
            <a:r>
              <a:rPr spc="25" dirty="0"/>
              <a:t> </a:t>
            </a:r>
            <a:r>
              <a:rPr spc="114" dirty="0"/>
              <a:t>evaluation</a:t>
            </a:r>
            <a:r>
              <a:rPr spc="25" dirty="0"/>
              <a:t> </a:t>
            </a:r>
            <a:r>
              <a:rPr spc="165" dirty="0"/>
              <a:t>and</a:t>
            </a:r>
            <a:r>
              <a:rPr spc="25" dirty="0"/>
              <a:t> </a:t>
            </a:r>
            <a:r>
              <a:rPr spc="105" dirty="0"/>
              <a:t>practical</a:t>
            </a:r>
            <a:r>
              <a:rPr spc="25" dirty="0"/>
              <a:t> </a:t>
            </a:r>
            <a:r>
              <a:rPr spc="90" dirty="0"/>
              <a:t>extension.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430000" cy="703897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204" dirty="0"/>
              <a:t>Future</a:t>
            </a:r>
            <a:r>
              <a:rPr spc="150" dirty="0"/>
              <a:t> </a:t>
            </a:r>
            <a:r>
              <a:rPr spc="165" dirty="0"/>
              <a:t>Scope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8824" y="1515862"/>
            <a:ext cx="2062480" cy="130302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734060">
              <a:lnSpc>
                <a:spcPct val="106100"/>
              </a:lnSpc>
              <a:spcBef>
                <a:spcPts val="15"/>
              </a:spcBef>
            </a:pPr>
            <a:r>
              <a:rPr sz="1650" b="1" spc="85" dirty="0">
                <a:solidFill>
                  <a:srgbClr val="D3C8C4"/>
                </a:solidFill>
                <a:latin typeface="Cambria"/>
                <a:cs typeface="Cambria"/>
              </a:rPr>
              <a:t>Real-</a:t>
            </a:r>
            <a:r>
              <a:rPr sz="1650" b="1" spc="75" dirty="0">
                <a:solidFill>
                  <a:srgbClr val="D3C8C4"/>
                </a:solidFill>
                <a:latin typeface="Cambria"/>
                <a:cs typeface="Cambria"/>
              </a:rPr>
              <a:t>time </a:t>
            </a:r>
            <a:r>
              <a:rPr sz="1650" b="1" spc="90" dirty="0">
                <a:solidFill>
                  <a:srgbClr val="D3C8C4"/>
                </a:solidFill>
                <a:latin typeface="Cambria"/>
                <a:cs typeface="Cambria"/>
              </a:rPr>
              <a:t>monitoring </a:t>
            </a:r>
            <a:r>
              <a:rPr sz="1350" spc="125" dirty="0">
                <a:solidFill>
                  <a:srgbClr val="D3C8C4"/>
                </a:solidFill>
                <a:latin typeface="Times New Roman"/>
                <a:cs typeface="Times New Roman"/>
              </a:rPr>
              <a:t>Stream</a:t>
            </a:r>
            <a:r>
              <a:rPr sz="1350" spc="1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65" dirty="0">
                <a:solidFill>
                  <a:srgbClr val="D3C8C4"/>
                </a:solidFill>
                <a:latin typeface="Times New Roman"/>
                <a:cs typeface="Times New Roman"/>
              </a:rPr>
              <a:t>logs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40" dirty="0">
                <a:solidFill>
                  <a:srgbClr val="D3C8C4"/>
                </a:solidFill>
                <a:latin typeface="Times New Roman"/>
                <a:cs typeface="Times New Roman"/>
              </a:rPr>
              <a:t>and</a:t>
            </a:r>
            <a:endParaRPr sz="1350">
              <a:latin typeface="Times New Roman"/>
              <a:cs typeface="Times New Roman"/>
            </a:endParaRPr>
          </a:p>
          <a:p>
            <a:pPr marL="12700" marR="5080">
              <a:lnSpc>
                <a:spcPct val="129600"/>
              </a:lnSpc>
            </a:pPr>
            <a:r>
              <a:rPr sz="1350" spc="120" dirty="0">
                <a:solidFill>
                  <a:srgbClr val="D3C8C4"/>
                </a:solidFill>
                <a:latin typeface="Times New Roman"/>
                <a:cs typeface="Times New Roman"/>
              </a:rPr>
              <a:t>correlate</a:t>
            </a:r>
            <a:r>
              <a:rPr sz="1350" spc="1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10" dirty="0">
                <a:solidFill>
                  <a:srgbClr val="D3C8C4"/>
                </a:solidFill>
                <a:latin typeface="Times New Roman"/>
                <a:cs typeface="Times New Roman"/>
              </a:rPr>
              <a:t>alerts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14" dirty="0">
                <a:solidFill>
                  <a:srgbClr val="D3C8C4"/>
                </a:solidFill>
                <a:latin typeface="Times New Roman"/>
                <a:cs typeface="Times New Roman"/>
              </a:rPr>
              <a:t>as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10" dirty="0">
                <a:solidFill>
                  <a:srgbClr val="D3C8C4"/>
                </a:solidFill>
                <a:latin typeface="Times New Roman"/>
                <a:cs typeface="Times New Roman"/>
              </a:rPr>
              <a:t>events </a:t>
            </a:r>
            <a:r>
              <a:rPr sz="1350" spc="90" dirty="0">
                <a:solidFill>
                  <a:srgbClr val="D3C8C4"/>
                </a:solidFill>
                <a:latin typeface="Times New Roman"/>
                <a:cs typeface="Times New Roman"/>
              </a:rPr>
              <a:t>occur.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59150" y="1440781"/>
            <a:ext cx="2091689" cy="142811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1650" b="1" dirty="0">
                <a:solidFill>
                  <a:srgbClr val="D3C8C4"/>
                </a:solidFill>
                <a:latin typeface="Cambria"/>
                <a:cs typeface="Cambria"/>
              </a:rPr>
              <a:t>IDS/IPS</a:t>
            </a:r>
            <a:r>
              <a:rPr sz="1650" b="1" spc="365" dirty="0">
                <a:solidFill>
                  <a:srgbClr val="D3C8C4"/>
                </a:solidFill>
                <a:latin typeface="Cambria"/>
                <a:cs typeface="Cambria"/>
              </a:rPr>
              <a:t> </a:t>
            </a:r>
            <a:r>
              <a:rPr sz="1650" b="1" spc="80" dirty="0">
                <a:solidFill>
                  <a:srgbClr val="D3C8C4"/>
                </a:solidFill>
                <a:latin typeface="Cambria"/>
                <a:cs typeface="Cambria"/>
              </a:rPr>
              <a:t>integration</a:t>
            </a:r>
            <a:endParaRPr sz="1650">
              <a:latin typeface="Cambria"/>
              <a:cs typeface="Cambria"/>
            </a:endParaRPr>
          </a:p>
          <a:p>
            <a:pPr marL="12700" marR="358775">
              <a:lnSpc>
                <a:spcPct val="129600"/>
              </a:lnSpc>
              <a:spcBef>
                <a:spcPts val="15"/>
              </a:spcBef>
            </a:pPr>
            <a:r>
              <a:rPr sz="1350" spc="95" dirty="0">
                <a:solidFill>
                  <a:srgbClr val="D3C8C4"/>
                </a:solidFill>
                <a:latin typeface="Times New Roman"/>
                <a:cs typeface="Times New Roman"/>
              </a:rPr>
              <a:t>Ingest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10" dirty="0">
                <a:solidFill>
                  <a:srgbClr val="D3C8C4"/>
                </a:solidFill>
                <a:latin typeface="Times New Roman"/>
                <a:cs typeface="Times New Roman"/>
              </a:rPr>
              <a:t>alerts</a:t>
            </a:r>
            <a:r>
              <a:rPr sz="1350" spc="3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85" dirty="0">
                <a:solidFill>
                  <a:srgbClr val="D3C8C4"/>
                </a:solidFill>
                <a:latin typeface="Times New Roman"/>
                <a:cs typeface="Times New Roman"/>
              </a:rPr>
              <a:t>directly </a:t>
            </a:r>
            <a:r>
              <a:rPr sz="1350" spc="135" dirty="0">
                <a:solidFill>
                  <a:srgbClr val="D3C8C4"/>
                </a:solidFill>
                <a:latin typeface="Times New Roman"/>
                <a:cs typeface="Times New Roman"/>
              </a:rPr>
              <a:t>from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14" dirty="0">
                <a:solidFill>
                  <a:srgbClr val="D3C8C4"/>
                </a:solidFill>
                <a:latin typeface="Times New Roman"/>
                <a:cs typeface="Times New Roman"/>
              </a:rPr>
              <a:t>intrusion </a:t>
            </a:r>
            <a:r>
              <a:rPr sz="1350" spc="105" dirty="0">
                <a:solidFill>
                  <a:srgbClr val="D3C8C4"/>
                </a:solidFill>
                <a:latin typeface="Times New Roman"/>
                <a:cs typeface="Times New Roman"/>
              </a:rPr>
              <a:t>detection/prevention </a:t>
            </a:r>
            <a:r>
              <a:rPr sz="1350" spc="85" dirty="0">
                <a:solidFill>
                  <a:srgbClr val="D3C8C4"/>
                </a:solidFill>
                <a:latin typeface="Times New Roman"/>
                <a:cs typeface="Times New Roman"/>
              </a:rPr>
              <a:t>systems.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59474" y="1515862"/>
            <a:ext cx="1869439" cy="130302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248920">
              <a:lnSpc>
                <a:spcPct val="106100"/>
              </a:lnSpc>
              <a:spcBef>
                <a:spcPts val="15"/>
              </a:spcBef>
            </a:pPr>
            <a:r>
              <a:rPr sz="1650" b="1" spc="140" dirty="0">
                <a:solidFill>
                  <a:srgbClr val="D3C8C4"/>
                </a:solidFill>
                <a:latin typeface="Cambria"/>
                <a:cs typeface="Cambria"/>
              </a:rPr>
              <a:t>SIEM</a:t>
            </a:r>
            <a:r>
              <a:rPr sz="1650" b="1" spc="80" dirty="0">
                <a:solidFill>
                  <a:srgbClr val="D3C8C4"/>
                </a:solidFill>
                <a:latin typeface="Cambria"/>
                <a:cs typeface="Cambria"/>
              </a:rPr>
              <a:t> </a:t>
            </a:r>
            <a:r>
              <a:rPr sz="1650" b="1" spc="105" dirty="0">
                <a:solidFill>
                  <a:srgbClr val="D3C8C4"/>
                </a:solidFill>
                <a:latin typeface="Cambria"/>
                <a:cs typeface="Cambria"/>
              </a:rPr>
              <a:t>platform </a:t>
            </a:r>
            <a:r>
              <a:rPr sz="1650" b="1" spc="80" dirty="0">
                <a:solidFill>
                  <a:srgbClr val="D3C8C4"/>
                </a:solidFill>
                <a:latin typeface="Cambria"/>
                <a:cs typeface="Cambria"/>
              </a:rPr>
              <a:t>integration </a:t>
            </a:r>
            <a:r>
              <a:rPr sz="1350" spc="140" dirty="0">
                <a:solidFill>
                  <a:srgbClr val="D3C8C4"/>
                </a:solidFill>
                <a:latin typeface="Times New Roman"/>
                <a:cs typeface="Times New Roman"/>
              </a:rPr>
              <a:t>Forward</a:t>
            </a:r>
            <a:r>
              <a:rPr sz="1350" spc="3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10" dirty="0">
                <a:solidFill>
                  <a:srgbClr val="D3C8C4"/>
                </a:solidFill>
                <a:latin typeface="Times New Roman"/>
                <a:cs typeface="Times New Roman"/>
              </a:rPr>
              <a:t>correlated</a:t>
            </a:r>
            <a:endParaRPr sz="1350">
              <a:latin typeface="Times New Roman"/>
              <a:cs typeface="Times New Roman"/>
            </a:endParaRPr>
          </a:p>
          <a:p>
            <a:pPr marL="12700" marR="5080">
              <a:lnSpc>
                <a:spcPct val="129600"/>
              </a:lnSpc>
            </a:pPr>
            <a:r>
              <a:rPr sz="1350" spc="110" dirty="0">
                <a:solidFill>
                  <a:srgbClr val="D3C8C4"/>
                </a:solidFill>
                <a:latin typeface="Times New Roman"/>
                <a:cs typeface="Times New Roman"/>
              </a:rPr>
              <a:t>incidents</a:t>
            </a:r>
            <a:r>
              <a:rPr sz="1350" spc="3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95" dirty="0">
                <a:solidFill>
                  <a:srgbClr val="D3C8C4"/>
                </a:solidFill>
                <a:latin typeface="Times New Roman"/>
                <a:cs typeface="Times New Roman"/>
              </a:rPr>
              <a:t>to</a:t>
            </a:r>
            <a:r>
              <a:rPr sz="1350" spc="3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14" dirty="0">
                <a:solidFill>
                  <a:srgbClr val="D3C8C4"/>
                </a:solidFill>
                <a:latin typeface="Times New Roman"/>
                <a:cs typeface="Times New Roman"/>
              </a:rPr>
              <a:t>enterprise </a:t>
            </a:r>
            <a:r>
              <a:rPr sz="1350" spc="-10" dirty="0">
                <a:solidFill>
                  <a:srgbClr val="D3C8C4"/>
                </a:solidFill>
                <a:latin typeface="Times New Roman"/>
                <a:cs typeface="Times New Roman"/>
              </a:rPr>
              <a:t>SIEMs.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559800" y="1515862"/>
            <a:ext cx="1948180" cy="15792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153670">
              <a:lnSpc>
                <a:spcPct val="102299"/>
              </a:lnSpc>
              <a:spcBef>
                <a:spcPts val="90"/>
              </a:spcBef>
            </a:pPr>
            <a:r>
              <a:rPr sz="1650" b="1" spc="120" dirty="0">
                <a:solidFill>
                  <a:srgbClr val="D3C8C4"/>
                </a:solidFill>
                <a:latin typeface="Cambria"/>
                <a:cs typeface="Cambria"/>
              </a:rPr>
              <a:t>Advanced</a:t>
            </a:r>
            <a:r>
              <a:rPr sz="1650" b="1" spc="85" dirty="0">
                <a:solidFill>
                  <a:srgbClr val="D3C8C4"/>
                </a:solidFill>
                <a:latin typeface="Cambria"/>
                <a:cs typeface="Cambria"/>
              </a:rPr>
              <a:t> </a:t>
            </a:r>
            <a:r>
              <a:rPr sz="1650" b="1" spc="95" dirty="0">
                <a:solidFill>
                  <a:srgbClr val="D3C8C4"/>
                </a:solidFill>
                <a:latin typeface="Cambria"/>
                <a:cs typeface="Cambria"/>
              </a:rPr>
              <a:t>graph </a:t>
            </a:r>
            <a:r>
              <a:rPr sz="1650" b="1" spc="85" dirty="0">
                <a:solidFill>
                  <a:srgbClr val="D3C8C4"/>
                </a:solidFill>
                <a:latin typeface="Cambria"/>
                <a:cs typeface="Cambria"/>
              </a:rPr>
              <a:t>algorithms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350" spc="60" dirty="0">
                <a:solidFill>
                  <a:srgbClr val="D3C8C4"/>
                </a:solidFill>
                <a:latin typeface="Times New Roman"/>
                <a:cs typeface="Times New Roman"/>
              </a:rPr>
              <a:t>Use</a:t>
            </a:r>
            <a:r>
              <a:rPr sz="1350" spc="3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95" dirty="0">
                <a:solidFill>
                  <a:srgbClr val="D3C8C4"/>
                </a:solidFill>
                <a:latin typeface="Times New Roman"/>
                <a:cs typeface="Times New Roman"/>
              </a:rPr>
              <a:t>centrality,</a:t>
            </a:r>
            <a:r>
              <a:rPr sz="1350" spc="3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90" dirty="0">
                <a:solidFill>
                  <a:srgbClr val="D3C8C4"/>
                </a:solidFill>
                <a:latin typeface="Times New Roman"/>
                <a:cs typeface="Times New Roman"/>
              </a:rPr>
              <a:t>shortest-</a:t>
            </a:r>
            <a:endParaRPr sz="1350">
              <a:latin typeface="Times New Roman"/>
              <a:cs typeface="Times New Roman"/>
            </a:endParaRPr>
          </a:p>
          <a:p>
            <a:pPr marL="12700" marR="160655">
              <a:lnSpc>
                <a:spcPct val="129600"/>
              </a:lnSpc>
            </a:pPr>
            <a:r>
              <a:rPr sz="1350" spc="145" dirty="0">
                <a:solidFill>
                  <a:srgbClr val="D3C8C4"/>
                </a:solidFill>
                <a:latin typeface="Times New Roman"/>
                <a:cs typeface="Times New Roman"/>
              </a:rPr>
              <a:t>path</a:t>
            </a:r>
            <a:r>
              <a:rPr sz="1350" spc="1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65" dirty="0">
                <a:solidFill>
                  <a:srgbClr val="D3C8C4"/>
                </a:solidFill>
                <a:latin typeface="Times New Roman"/>
                <a:cs typeface="Times New Roman"/>
              </a:rPr>
              <a:t>and</a:t>
            </a:r>
            <a:r>
              <a:rPr sz="1350" spc="1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25" dirty="0">
                <a:solidFill>
                  <a:srgbClr val="D3C8C4"/>
                </a:solidFill>
                <a:latin typeface="Times New Roman"/>
                <a:cs typeface="Times New Roman"/>
              </a:rPr>
              <a:t>community </a:t>
            </a:r>
            <a:r>
              <a:rPr sz="1350" spc="110" dirty="0">
                <a:solidFill>
                  <a:srgbClr val="D3C8C4"/>
                </a:solidFill>
                <a:latin typeface="Times New Roman"/>
                <a:cs typeface="Times New Roman"/>
              </a:rPr>
              <a:t>detection</a:t>
            </a:r>
            <a:r>
              <a:rPr sz="1350" spc="1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95" dirty="0">
                <a:solidFill>
                  <a:srgbClr val="D3C8C4"/>
                </a:solidFill>
                <a:latin typeface="Times New Roman"/>
                <a:cs typeface="Times New Roman"/>
              </a:rPr>
              <a:t>to</a:t>
            </a:r>
            <a:r>
              <a:rPr sz="1350" spc="1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95" dirty="0">
                <a:solidFill>
                  <a:srgbClr val="D3C8C4"/>
                </a:solidFill>
                <a:latin typeface="Times New Roman"/>
                <a:cs typeface="Times New Roman"/>
              </a:rPr>
              <a:t>prioritise</a:t>
            </a: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50" spc="90" dirty="0">
                <a:solidFill>
                  <a:srgbClr val="D3C8C4"/>
                </a:solidFill>
                <a:latin typeface="Times New Roman"/>
                <a:cs typeface="Times New Roman"/>
              </a:rPr>
              <a:t>nodes.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8824" y="3763762"/>
            <a:ext cx="2809875" cy="10363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325120">
              <a:lnSpc>
                <a:spcPct val="102299"/>
              </a:lnSpc>
              <a:spcBef>
                <a:spcPts val="90"/>
              </a:spcBef>
            </a:pPr>
            <a:r>
              <a:rPr sz="1650" b="1" spc="120" dirty="0">
                <a:solidFill>
                  <a:srgbClr val="D3C8C4"/>
                </a:solidFill>
                <a:latin typeface="Cambria"/>
                <a:cs typeface="Cambria"/>
              </a:rPr>
              <a:t>Large</a:t>
            </a:r>
            <a:r>
              <a:rPr sz="1650" b="1" spc="80" dirty="0">
                <a:solidFill>
                  <a:srgbClr val="D3C8C4"/>
                </a:solidFill>
                <a:latin typeface="Cambria"/>
                <a:cs typeface="Cambria"/>
              </a:rPr>
              <a:t> </a:t>
            </a:r>
            <a:r>
              <a:rPr sz="1650" b="1" spc="85" dirty="0">
                <a:solidFill>
                  <a:srgbClr val="D3C8C4"/>
                </a:solidFill>
                <a:latin typeface="Cambria"/>
                <a:cs typeface="Cambria"/>
              </a:rPr>
              <a:t>datasets </a:t>
            </a:r>
            <a:r>
              <a:rPr sz="1650" b="1" spc="120" dirty="0">
                <a:solidFill>
                  <a:srgbClr val="D3C8C4"/>
                </a:solidFill>
                <a:latin typeface="Cambria"/>
                <a:cs typeface="Cambria"/>
              </a:rPr>
              <a:t>&amp;</a:t>
            </a:r>
            <a:r>
              <a:rPr sz="1650" b="1" spc="80" dirty="0">
                <a:solidFill>
                  <a:srgbClr val="D3C8C4"/>
                </a:solidFill>
                <a:latin typeface="Cambria"/>
                <a:cs typeface="Cambria"/>
              </a:rPr>
              <a:t> </a:t>
            </a:r>
            <a:r>
              <a:rPr sz="1650" b="1" spc="90" dirty="0">
                <a:solidFill>
                  <a:srgbClr val="D3C8C4"/>
                </a:solidFill>
                <a:latin typeface="Cambria"/>
                <a:cs typeface="Cambria"/>
              </a:rPr>
              <a:t>cloud monitoring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350" spc="70" dirty="0">
                <a:solidFill>
                  <a:srgbClr val="D3C8C4"/>
                </a:solidFill>
                <a:latin typeface="Times New Roman"/>
                <a:cs typeface="Times New Roman"/>
              </a:rPr>
              <a:t>Scale</a:t>
            </a:r>
            <a:r>
              <a:rPr sz="1350" spc="1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25" dirty="0">
                <a:solidFill>
                  <a:srgbClr val="D3C8C4"/>
                </a:solidFill>
                <a:latin typeface="Times New Roman"/>
                <a:cs typeface="Times New Roman"/>
              </a:rPr>
              <a:t>with</a:t>
            </a:r>
            <a:r>
              <a:rPr sz="1350" spc="1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20" dirty="0">
                <a:solidFill>
                  <a:srgbClr val="D3C8C4"/>
                </a:solidFill>
                <a:latin typeface="Times New Roman"/>
                <a:cs typeface="Times New Roman"/>
              </a:rPr>
              <a:t>distributed</a:t>
            </a:r>
            <a:r>
              <a:rPr sz="1350" spc="1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10" dirty="0">
                <a:solidFill>
                  <a:srgbClr val="D3C8C4"/>
                </a:solidFill>
                <a:latin typeface="Times New Roman"/>
                <a:cs typeface="Times New Roman"/>
              </a:rPr>
              <a:t>storage</a:t>
            </a:r>
            <a:r>
              <a:rPr sz="1350" spc="1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40" dirty="0">
                <a:solidFill>
                  <a:srgbClr val="D3C8C4"/>
                </a:solidFill>
                <a:latin typeface="Times New Roman"/>
                <a:cs typeface="Times New Roman"/>
              </a:rPr>
              <a:t>and</a:t>
            </a: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350" spc="105" dirty="0">
                <a:solidFill>
                  <a:srgbClr val="D3C8C4"/>
                </a:solidFill>
                <a:latin typeface="Times New Roman"/>
                <a:cs typeface="Times New Roman"/>
              </a:rPr>
              <a:t>cloud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60" dirty="0">
                <a:solidFill>
                  <a:srgbClr val="D3C8C4"/>
                </a:solidFill>
                <a:latin typeface="Times New Roman"/>
                <a:cs typeface="Times New Roman"/>
              </a:rPr>
              <a:t>log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85" dirty="0">
                <a:solidFill>
                  <a:srgbClr val="D3C8C4"/>
                </a:solidFill>
                <a:latin typeface="Times New Roman"/>
                <a:cs typeface="Times New Roman"/>
              </a:rPr>
              <a:t>sources.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25925" y="3763762"/>
            <a:ext cx="2829560" cy="13030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90"/>
              </a:spcBef>
            </a:pPr>
            <a:r>
              <a:rPr sz="1650" b="1" spc="195" dirty="0">
                <a:solidFill>
                  <a:srgbClr val="D3C8C4"/>
                </a:solidFill>
                <a:latin typeface="Cambria"/>
                <a:cs typeface="Cambria"/>
              </a:rPr>
              <a:t>ML</a:t>
            </a:r>
            <a:r>
              <a:rPr sz="1650" b="1" spc="80" dirty="0">
                <a:solidFill>
                  <a:srgbClr val="D3C8C4"/>
                </a:solidFill>
                <a:latin typeface="Cambria"/>
                <a:cs typeface="Cambria"/>
              </a:rPr>
              <a:t> </a:t>
            </a:r>
            <a:r>
              <a:rPr sz="1650" b="1" spc="114" dirty="0">
                <a:solidFill>
                  <a:srgbClr val="D3C8C4"/>
                </a:solidFill>
                <a:latin typeface="Cambria"/>
                <a:cs typeface="Cambria"/>
              </a:rPr>
              <a:t>for</a:t>
            </a:r>
            <a:r>
              <a:rPr sz="1650" b="1" spc="85" dirty="0">
                <a:solidFill>
                  <a:srgbClr val="D3C8C4"/>
                </a:solidFill>
                <a:latin typeface="Cambria"/>
                <a:cs typeface="Cambria"/>
              </a:rPr>
              <a:t> </a:t>
            </a:r>
            <a:r>
              <a:rPr sz="1650" b="1" spc="120" dirty="0">
                <a:solidFill>
                  <a:srgbClr val="D3C8C4"/>
                </a:solidFill>
                <a:latin typeface="Cambria"/>
                <a:cs typeface="Cambria"/>
              </a:rPr>
              <a:t>anomaly</a:t>
            </a:r>
            <a:r>
              <a:rPr sz="1650" b="1" spc="85" dirty="0">
                <a:solidFill>
                  <a:srgbClr val="D3C8C4"/>
                </a:solidFill>
                <a:latin typeface="Cambria"/>
                <a:cs typeface="Cambria"/>
              </a:rPr>
              <a:t> </a:t>
            </a:r>
            <a:r>
              <a:rPr sz="1650" b="1" spc="75" dirty="0">
                <a:solidFill>
                  <a:srgbClr val="D3C8C4"/>
                </a:solidFill>
                <a:latin typeface="Cambria"/>
                <a:cs typeface="Cambria"/>
              </a:rPr>
              <a:t>detection </a:t>
            </a:r>
            <a:r>
              <a:rPr sz="1650" b="1" spc="70" dirty="0">
                <a:solidFill>
                  <a:srgbClr val="D3C8C4"/>
                </a:solidFill>
                <a:latin typeface="Cambria"/>
                <a:cs typeface="Cambria"/>
              </a:rPr>
              <a:t>(Future)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350" spc="100" dirty="0">
                <a:solidFill>
                  <a:srgbClr val="D3C8C4"/>
                </a:solidFill>
                <a:latin typeface="Times New Roman"/>
                <a:cs typeface="Times New Roman"/>
              </a:rPr>
              <a:t>Investigate</a:t>
            </a:r>
            <a:r>
              <a:rPr sz="1350" spc="5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30" dirty="0">
                <a:solidFill>
                  <a:srgbClr val="D3C8C4"/>
                </a:solidFill>
                <a:latin typeface="Times New Roman"/>
                <a:cs typeface="Times New Roman"/>
              </a:rPr>
              <a:t>machine-</a:t>
            </a:r>
            <a:r>
              <a:rPr sz="1350" spc="105" dirty="0">
                <a:solidFill>
                  <a:srgbClr val="D3C8C4"/>
                </a:solidFill>
                <a:latin typeface="Times New Roman"/>
                <a:cs typeface="Times New Roman"/>
              </a:rPr>
              <a:t>learning</a:t>
            </a:r>
            <a:endParaRPr sz="1350">
              <a:latin typeface="Times New Roman"/>
              <a:cs typeface="Times New Roman"/>
            </a:endParaRPr>
          </a:p>
          <a:p>
            <a:pPr marL="12700" marR="155575">
              <a:lnSpc>
                <a:spcPct val="129600"/>
              </a:lnSpc>
            </a:pPr>
            <a:r>
              <a:rPr sz="1350" spc="114" dirty="0">
                <a:solidFill>
                  <a:srgbClr val="D3C8C4"/>
                </a:solidFill>
                <a:latin typeface="Times New Roman"/>
                <a:cs typeface="Times New Roman"/>
              </a:rPr>
              <a:t>models</a:t>
            </a:r>
            <a:r>
              <a:rPr sz="1350" spc="2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10" dirty="0">
                <a:solidFill>
                  <a:srgbClr val="D3C8C4"/>
                </a:solidFill>
                <a:latin typeface="Times New Roman"/>
                <a:cs typeface="Times New Roman"/>
              </a:rPr>
              <a:t>for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35" dirty="0">
                <a:solidFill>
                  <a:srgbClr val="D3C8C4"/>
                </a:solidFill>
                <a:latin typeface="Times New Roman"/>
                <a:cs typeface="Times New Roman"/>
              </a:rPr>
              <a:t>anomaly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00" dirty="0">
                <a:solidFill>
                  <a:srgbClr val="D3C8C4"/>
                </a:solidFill>
                <a:latin typeface="Times New Roman"/>
                <a:cs typeface="Times New Roman"/>
              </a:rPr>
              <a:t>scoring</a:t>
            </a:r>
            <a:r>
              <a:rPr sz="1350" spc="2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80" dirty="0">
                <a:solidFill>
                  <a:srgbClr val="D3C8C4"/>
                </a:solidFill>
                <a:latin typeface="Times New Roman"/>
                <a:cs typeface="Times New Roman"/>
              </a:rPr>
              <a:t>(not </a:t>
            </a:r>
            <a:r>
              <a:rPr sz="1350" spc="130" dirty="0">
                <a:solidFill>
                  <a:srgbClr val="D3C8C4"/>
                </a:solidFill>
                <a:latin typeface="Times New Roman"/>
                <a:cs typeface="Times New Roman"/>
              </a:rPr>
              <a:t>implemented</a:t>
            </a:r>
            <a:r>
              <a:rPr sz="1350" spc="6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85" dirty="0">
                <a:solidFill>
                  <a:srgbClr val="D3C8C4"/>
                </a:solidFill>
                <a:latin typeface="Times New Roman"/>
                <a:cs typeface="Times New Roman"/>
              </a:rPr>
              <a:t>now).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93025" y="3673238"/>
            <a:ext cx="2821940" cy="916305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650" b="1" spc="120" dirty="0">
                <a:solidFill>
                  <a:srgbClr val="D3C8C4"/>
                </a:solidFill>
                <a:latin typeface="Cambria"/>
                <a:cs typeface="Cambria"/>
              </a:rPr>
              <a:t>Automated</a:t>
            </a:r>
            <a:r>
              <a:rPr sz="1650" b="1" spc="85" dirty="0">
                <a:solidFill>
                  <a:srgbClr val="D3C8C4"/>
                </a:solidFill>
                <a:latin typeface="Cambria"/>
                <a:cs typeface="Cambria"/>
              </a:rPr>
              <a:t> </a:t>
            </a:r>
            <a:r>
              <a:rPr sz="1650" b="1" spc="75" dirty="0">
                <a:solidFill>
                  <a:srgbClr val="D3C8C4"/>
                </a:solidFill>
                <a:latin typeface="Cambria"/>
                <a:cs typeface="Cambria"/>
              </a:rPr>
              <a:t>responses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1350" spc="90" dirty="0">
                <a:solidFill>
                  <a:srgbClr val="D3C8C4"/>
                </a:solidFill>
                <a:latin typeface="Times New Roman"/>
                <a:cs typeface="Times New Roman"/>
              </a:rPr>
              <a:t>Trigger</a:t>
            </a:r>
            <a:r>
              <a:rPr sz="1350" spc="35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30" dirty="0">
                <a:solidFill>
                  <a:srgbClr val="D3C8C4"/>
                </a:solidFill>
                <a:latin typeface="Times New Roman"/>
                <a:cs typeface="Times New Roman"/>
              </a:rPr>
              <a:t>containment</a:t>
            </a:r>
            <a:r>
              <a:rPr sz="1350" spc="4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05" dirty="0">
                <a:solidFill>
                  <a:srgbClr val="D3C8C4"/>
                </a:solidFill>
                <a:latin typeface="Times New Roman"/>
                <a:cs typeface="Times New Roman"/>
              </a:rPr>
              <a:t>actions</a:t>
            </a:r>
            <a:r>
              <a:rPr sz="1350" spc="4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85" dirty="0">
                <a:solidFill>
                  <a:srgbClr val="D3C8C4"/>
                </a:solidFill>
                <a:latin typeface="Times New Roman"/>
                <a:cs typeface="Times New Roman"/>
              </a:rPr>
              <a:t>for</a:t>
            </a: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350" spc="100" dirty="0">
                <a:solidFill>
                  <a:srgbClr val="D3C8C4"/>
                </a:solidFill>
                <a:latin typeface="Times New Roman"/>
                <a:cs typeface="Times New Roman"/>
              </a:rPr>
              <a:t>high-</a:t>
            </a:r>
            <a:r>
              <a:rPr sz="1350" spc="95" dirty="0">
                <a:solidFill>
                  <a:srgbClr val="D3C8C4"/>
                </a:solidFill>
                <a:latin typeface="Times New Roman"/>
                <a:cs typeface="Times New Roman"/>
              </a:rPr>
              <a:t>severity</a:t>
            </a:r>
            <a:r>
              <a:rPr sz="1350" spc="4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120" dirty="0">
                <a:solidFill>
                  <a:srgbClr val="D3C8C4"/>
                </a:solidFill>
                <a:latin typeface="Times New Roman"/>
                <a:cs typeface="Times New Roman"/>
              </a:rPr>
              <a:t>correlated</a:t>
            </a:r>
            <a:r>
              <a:rPr sz="1350" spc="40" dirty="0">
                <a:solidFill>
                  <a:srgbClr val="D3C8C4"/>
                </a:solidFill>
                <a:latin typeface="Times New Roman"/>
                <a:cs typeface="Times New Roman"/>
              </a:rPr>
              <a:t> </a:t>
            </a:r>
            <a:r>
              <a:rPr sz="1350" spc="85" dirty="0">
                <a:solidFill>
                  <a:srgbClr val="D3C8C4"/>
                </a:solidFill>
                <a:latin typeface="Times New Roman"/>
                <a:cs typeface="Times New Roman"/>
              </a:rPr>
              <a:t>incidents.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44587" y="5764021"/>
            <a:ext cx="935291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9600"/>
              </a:lnSpc>
              <a:spcBef>
                <a:spcPts val="100"/>
              </a:spcBef>
            </a:pPr>
            <a:r>
              <a:rPr sz="1350" spc="135" dirty="0">
                <a:solidFill>
                  <a:srgbClr val="FFFFFF"/>
                </a:solidFill>
                <a:latin typeface="Times New Roman"/>
                <a:cs typeface="Times New Roman"/>
              </a:rPr>
              <a:t>Future</a:t>
            </a:r>
            <a:r>
              <a:rPr sz="135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spc="145" dirty="0">
                <a:solidFill>
                  <a:srgbClr val="FFFFFF"/>
                </a:solidFill>
                <a:latin typeface="Times New Roman"/>
                <a:cs typeface="Times New Roman"/>
              </a:rPr>
              <a:t>work</a:t>
            </a:r>
            <a:r>
              <a:rPr sz="135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spc="95" dirty="0">
                <a:solidFill>
                  <a:srgbClr val="FFFFFF"/>
                </a:solidFill>
                <a:latin typeface="Times New Roman"/>
                <a:cs typeface="Times New Roman"/>
              </a:rPr>
              <a:t>focuses</a:t>
            </a:r>
            <a:r>
              <a:rPr sz="135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spc="145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135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spc="80" dirty="0">
                <a:solidFill>
                  <a:srgbClr val="FFFFFF"/>
                </a:solidFill>
                <a:latin typeface="Times New Roman"/>
                <a:cs typeface="Times New Roman"/>
              </a:rPr>
              <a:t>scalability,</a:t>
            </a:r>
            <a:r>
              <a:rPr sz="135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spc="95" dirty="0">
                <a:solidFill>
                  <a:srgbClr val="FFFFFF"/>
                </a:solidFill>
                <a:latin typeface="Times New Roman"/>
                <a:cs typeface="Times New Roman"/>
              </a:rPr>
              <a:t>real-</a:t>
            </a:r>
            <a:r>
              <a:rPr sz="1350" spc="120" dirty="0">
                <a:solidFill>
                  <a:srgbClr val="FFFFFF"/>
                </a:solidFill>
                <a:latin typeface="Times New Roman"/>
                <a:cs typeface="Times New Roman"/>
              </a:rPr>
              <a:t>time</a:t>
            </a:r>
            <a:r>
              <a:rPr sz="135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spc="130" dirty="0">
                <a:solidFill>
                  <a:srgbClr val="FFFFFF"/>
                </a:solidFill>
                <a:latin typeface="Times New Roman"/>
                <a:cs typeface="Times New Roman"/>
              </a:rPr>
              <a:t>operation</a:t>
            </a:r>
            <a:r>
              <a:rPr sz="135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spc="165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35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spc="80" dirty="0">
                <a:solidFill>
                  <a:srgbClr val="FFFFFF"/>
                </a:solidFill>
                <a:latin typeface="Times New Roman"/>
                <a:cs typeface="Times New Roman"/>
              </a:rPr>
              <a:t>safe,</a:t>
            </a:r>
            <a:r>
              <a:rPr sz="135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spc="110" dirty="0">
                <a:solidFill>
                  <a:srgbClr val="FFFFFF"/>
                </a:solidFill>
                <a:latin typeface="Times New Roman"/>
                <a:cs typeface="Times New Roman"/>
              </a:rPr>
              <a:t>tested</a:t>
            </a:r>
            <a:r>
              <a:rPr sz="135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spc="120" dirty="0">
                <a:solidFill>
                  <a:srgbClr val="FFFFFF"/>
                </a:solidFill>
                <a:latin typeface="Times New Roman"/>
                <a:cs typeface="Times New Roman"/>
              </a:rPr>
              <a:t>automation.</a:t>
            </a:r>
            <a:r>
              <a:rPr sz="135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spc="110" dirty="0">
                <a:solidFill>
                  <a:srgbClr val="FFFFFF"/>
                </a:solidFill>
                <a:latin typeface="Times New Roman"/>
                <a:cs typeface="Times New Roman"/>
              </a:rPr>
              <a:t>Machine</a:t>
            </a:r>
            <a:r>
              <a:rPr sz="135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spc="120" dirty="0">
                <a:solidFill>
                  <a:srgbClr val="FFFFFF"/>
                </a:solidFill>
                <a:latin typeface="Times New Roman"/>
                <a:cs typeface="Times New Roman"/>
              </a:rPr>
              <a:t>learning</a:t>
            </a:r>
            <a:r>
              <a:rPr sz="135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spc="65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35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spc="90" dirty="0">
                <a:solidFill>
                  <a:srgbClr val="FFFFFF"/>
                </a:solidFill>
                <a:latin typeface="Times New Roman"/>
                <a:cs typeface="Times New Roman"/>
              </a:rPr>
              <a:t>listed</a:t>
            </a:r>
            <a:r>
              <a:rPr sz="135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spc="114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135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spc="105" dirty="0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sz="1350" spc="110" dirty="0">
                <a:solidFill>
                  <a:srgbClr val="FFFFFF"/>
                </a:solidFill>
                <a:latin typeface="Times New Roman"/>
                <a:cs typeface="Times New Roman"/>
              </a:rPr>
              <a:t>prospective</a:t>
            </a:r>
            <a:r>
              <a:rPr sz="135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spc="145" dirty="0">
                <a:solidFill>
                  <a:srgbClr val="FFFFFF"/>
                </a:solidFill>
                <a:latin typeface="Times New Roman"/>
                <a:cs typeface="Times New Roman"/>
              </a:rPr>
              <a:t>enhancement</a:t>
            </a:r>
            <a:r>
              <a:rPr sz="135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spc="70" dirty="0">
                <a:solidFill>
                  <a:srgbClr val="FFFFFF"/>
                </a:solidFill>
                <a:latin typeface="Times New Roman"/>
                <a:cs typeface="Times New Roman"/>
              </a:rPr>
              <a:t>only.</a:t>
            </a:r>
            <a:endParaRPr sz="1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401755" y="3332554"/>
            <a:ext cx="2626995" cy="460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50" spc="114" dirty="0">
                <a:solidFill>
                  <a:srgbClr val="D8AB5D"/>
                </a:solidFill>
                <a:latin typeface="Verdana"/>
                <a:cs typeface="Verdana"/>
              </a:rPr>
              <a:t>THANK</a:t>
            </a:r>
            <a:r>
              <a:rPr sz="2850" spc="385" dirty="0">
                <a:solidFill>
                  <a:srgbClr val="D8AB5D"/>
                </a:solidFill>
                <a:latin typeface="Verdana"/>
                <a:cs typeface="Verdana"/>
              </a:rPr>
              <a:t> </a:t>
            </a:r>
            <a:r>
              <a:rPr sz="2850" spc="110" dirty="0">
                <a:solidFill>
                  <a:srgbClr val="D8AB5D"/>
                </a:solidFill>
                <a:latin typeface="Verdana"/>
                <a:cs typeface="Verdana"/>
              </a:rPr>
              <a:t>YOU</a:t>
            </a:r>
            <a:endParaRPr sz="28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864</Words>
  <Application>Microsoft Office PowerPoint</Application>
  <PresentationFormat>Custom</PresentationFormat>
  <Paragraphs>139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Threat Intelligence Kill-Chain Correlation Engine</vt:lpstr>
      <vt:lpstr>Abstract</vt:lpstr>
      <vt:lpstr>Introduction</vt:lpstr>
      <vt:lpstr>Literature Survey</vt:lpstr>
      <vt:lpstr>Problem Statement &amp; Objectives</vt:lpstr>
      <vt:lpstr>Hardware &amp; Software Requirements</vt:lpstr>
      <vt:lpstr>Results — System Behaviour (Example)</vt:lpstr>
      <vt:lpstr>DSA Implementation and Visual Results</vt:lpstr>
      <vt:lpstr>Conclusion</vt:lpstr>
      <vt:lpstr>Future Scope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Threat-Intelligence-Kill-Chain-Correlation-Engine.pdf</dc:title>
  <dc:creator>Kuppausharani</dc:creator>
  <cp:keywords>DAHSoMe-l1g,BAGyxqFri5g</cp:keywords>
  <cp:lastModifiedBy>Samyuktha Kandukuri</cp:lastModifiedBy>
  <cp:revision>2</cp:revision>
  <dcterms:created xsi:type="dcterms:W3CDTF">2026-10-12T04:51:53Z</dcterms:created>
  <dcterms:modified xsi:type="dcterms:W3CDTF">2026-10-12T05:00:46Z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2026-08-18T00:00:00Z</vt:filetime>
  </property>
  <property fmtid="{D5CDD505-2E9C-101B-9397-08002B2CF9AE}" pid="4" name="Creator">
    <vt:lpwstr>Canva</vt:lpwstr>
  </property>
  <property fmtid="{D5CDD505-2E9C-101B-9397-08002B2CF9AE}" pid="5" name="LastSaved">
    <vt:filetime>2026-10-12T00:00:00Z</vt:filetime>
  </property>
  <property fmtid="{D5CDD505-2E9C-101B-9397-08002B2CF9AE}" pid="6" name="Producer">
    <vt:lpwstr>Canva</vt:lpwstr>
  </property>
</Properties>
</file>